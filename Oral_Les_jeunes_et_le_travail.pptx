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28bb503-c9b4-0a53-eca3-28260f62b78a}">
          <p14:sldIdLst>
            <p14:sldId id="256"/>
            <p14:sldId id="257"/>
            <p14:sldId id="258"/>
            <p14:sldId id="259"/>
          </p14:sldIdLst>
        </p14:section>
        <p14:section name="I. L'accusation" id="{fc1129bd-2914-9bde-6904-af862f84f52a}">
          <p14:sldIdLst>
            <p14:sldId id="260"/>
            <p14:sldId id="261"/>
            <p14:sldId id="262"/>
            <p14:sldId id="263"/>
          </p14:sldIdLst>
        </p14:section>
        <p14:section name="II. Les faits" id="{540d5324-5882-5ea6-c7b5-4378f5c37a98}">
          <p14:sldIdLst>
            <p14:sldId id="264"/>
            <p14:sldId id="265"/>
            <p14:sldId id="266"/>
            <p14:sldId id="267"/>
          </p14:sldIdLst>
        </p14:section>
        <p14:section name="III. Les valeurs" id="{04e8326d-3b19-6976-0daf-78e567a21cde}">
          <p14:sldIdLst>
            <p14:sldId id="268"/>
            <p14:sldId id="269"/>
            <p14:sldId id="270"/>
          </p14:sldIdLst>
        </p14:section>
        <p14:section name="Conclusion" id="{cceca067-afcb-7319-3a9a-431a83b8b74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toutes et à tous. Le sujet de mon oral : « Les jeunes ne veulent-ils vraiment plus travailler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Les jeunes ne veulent plus travailler. » Cette phrase, vous l'avez sûrement déjà entendue, lors d'un repas de famille, dans un reportage ou dans la bouche d'un employeur qui peine à recruter. Elle semble de bon sens, presque évidente pour certains.
Pourtant, quand on prend un peu de recul, on s'aperçoit qu'elle ressemble à une phrase prononcée à chaque époque : les générations précédentes disaient déjà des jeunes qu'ils étaient moins courageux, moins disciplinés, moins sérieux que leurs aînés.
Alors, aujourd'hui, nous allons jouer au jeu du vrai ou faux avec cette affirmation.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est d'autant plus important qu'il touche à des enjeux concrets : de nombreuses entreprises déclarent des difficultés de recrutement, le marché du travail se transforme, et le débat public oppose régulièrement les générations.
Pour ne pas rester au niveau des impressions, nous nous appuierons sur trois ouvrages de référence consacrés à la Génération Z : « Génération Z : Mode d'emploi » de Georges Lewi, « Manager la génération Z » d'Elodie Gentina, et « Entreprise : les Z arrivent ! » de Daniel Ollivier et Catherine Tanguy.
Savoir si cette idée est vraie ou fausse, c'est comprendre ce qui se joue réellement entre les jeunes, le travail et la société.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problématique sera la suivante : l'idée selon laquelle les jeunes ne veulent plus travailler résiste-t-elle à l'analyse des réalités économiques, des incertitudes sur l'avenir et de l'évolution de leurs aspirations ?
Pour y répondre, nous verrons dans un premier temps pourquoi cette génération est accusée de manquer de motivation. Nous montrerons ensuite que les réalités économiques et sociales contredisent cette idée reçue. Enfin, nous verrons qu'il s'agit moins d'un rejet du travail que d'un véritable changement de valeurs.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Commençons par examiner l'accusation. Elle ne vient pas de nulle part, et il serait malhonnête de la balayer d'un revers de main. Si cette idée est aussi répandue, c'est qu'elle s'appuie sur des situations réellement vécues par des employeurs et des managers.
Depuis plusieurs années, de nombreux employeurs, notamment dans la restauration, l'hôtellerie, le bâtiment, le commerce ou la logistique, déclarent rencontrer de grandes difficultés pour recruter, mais surtout pour fidéliser leurs salariés. Ils décrivent des jeunes qui démissionnent après quelques semaines, qui ne donnent plus aucune nouvelle après un entretien, ou qui ne se présentent tout simplement pas le jour de leur prise de poste. Certains parlent même de « ghosting » professionnel.
Daniel Ollivier et Catherine Tanguy, dans « Entreprise : les Z arrivent ! », décrivent précisément ce « choc » vécu par les DRH et les managers. Le jeune « zappeur » quitterait son poste au bout de quelques mois s'il s'ennuie ou trouve mieux ailleurs. Là où les générations précédentes voyaient la loyauté comme une vertu cardinale, les employeurs perçoivent une forme de consumérisme appliqué au marché de l'emploi.
Un chef d'entreprise qui forme un jeune pendant plusieurs semaines avant de le voir partir ressent légitimement de la frustration. C'est ainsi que se construit, de proche en proche, l'image d'une génération moins impliquée que les précédentes.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cette première critique s'ajoute le reproche d'un refus des contraintes. On dit que les jeunes supportent mal la hiérarchie verticale, les horaires fixes, les ordres donnés sans explication et les exigences traditionnelles du monde professionnel : la disponibilité permanente, les heures supplémentaires non rémunérées, la patience nécessaire pour gravir les échelons.
Elodie Gentina, dans « Manager la génération Z », en donne une explication intéressante. Notre génération a grandi dans une culture du réseau, d'internet et des réseaux sociaux, où l'information circule de manière horizontale. Les jeunes ont donc plus de mal avec le fameux « top-down », c'est-à-dire les décisions imposées du haut vers le bas. Quand un jeune demande « Pourquoi dois-je faire cela ? » ou remet en cause un horaire fixe, le manager traditionnel y voit de l'insubordination. Or Gentina souligne qu'il ne s'agit pas d'une rébellion, mais d'une incompréhension mutuelle des codes.
Les jeunes voudraient comprendre le sens de ce qu'on leur demande, discuter, donner leur avis, être écoutés, là où leurs aînés acceptaient souvent de s'exécuter sans broncher. Pour certains managers, cette attitude est perçue comme un manque de respect de l'autorité, voire comme de l'arrogance : « à peine arrivés, ils veulent déjà tout changer ». On voit ici comment une différence de culture professionnelle peut être interprétée comme un défaut de volonté.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Enfin, on observe chez les jeunes une recherche accrue de flexibilité et de liberté professionnelle. Georges Lewi, dans « Génération Z : Mode d'emploi », évoque cette soif de liberté : télétravail, horaires aménagés, porosité entre vie professionnelle et vie personnelle, mais aussi volonté de pouvoir changer de poste, de projet ou même de métier, ou attrait pour l'entrepreneuriat, le freelancing et les activités indépendantes.
Or cette aspiration est parfois lue à travers un prisme négatif : un jeune qui demande du télétravail voudrait « en faire moins », un jeune qui change souvent d'employeur serait « instable », un jeune qui refuse de faire des heures supplémentaires serait « peu motivé ». Autrement dit, ce qui relève d'un mode d'organisation différent est interprété comme un manque d'investissement. Le malentendu vient d'une grille de lecture managériale qui n'est plus adaptée.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Voilà donc pour l'accusation. Elle repose sur des ressentis réels, mais des ressentis ne constituent pas des preuves. La vraie question est de savoir si les faits confirment cette impression. C'est ce que nous allons vérifier.
Dès que l'on regarde les faits, l'idée reçue se fragilise. Les jeunes travaillent, souvent dans des conditions difficiles, et leur situation économique explique en grande partie leurs comportements.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 les jeunes travaillent, et ils travaillent tôt. Georges Lewi insiste sur le pragmatisme de notre génération, confrontée très tôt à la réalité du travail grâce à l'alternance, aux stages longs et aux emplois étudiants. Ce contact précoce nourrit son exigence, pas sa paresse.
L'alternance s'est en effet massivement développée en France ces dernières années. Le seuil du million d'apprentis a été dépassé, ce qui constitue un record, et l'apprentissage ne concerne plus seulement les métiers manuels : il s'est étendu à l'enseignement supérieur, aux écoles de commerce, aux masters, aux écoles d'ingénieurs. Un jeune en alternance, c'est un jeune qui partage son temps entre des cours exigeants et un véritable poste en entreprise, avec des objectifs, des horaires et des responsabilités.
À cela s'ajoutent les stages, de plus en plus nombreux et obligatoires dans de nombreux cursus, ainsi que les emplois étudiants : serveur, caissier, livreur, animateur, jobs d'été. Beaucoup d'étudiants cumulent études et travail rémunéré, parfois par choix, souvent par nécessité financière.
Je peux en parler en connaissance de cause. Je suis moi-même étudiant en BUT Gestion des Entreprises et des Administrations, un cursus qui intègre des stages, et je cherche aujourd'hui une alternance d'un an, tout en poursuivant en parallèle une double licence en comptabilité, contrôle et audit. Ce n'est pas le parcours de quelqu'un qui refuse de travailler, et je suis loin d'être un cas isolé parmi mes camarades.
Sur ce point, la réponse est donc claire : les jeunes veulent travailler, et ils s'y mettent même de plus en plus tôt.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élément : si les jeunes travaillent autant, c'est aussi parce que leur situation économique les y oblige. Ollivier et Tanguy rappellent que l'entreprise doit intégrer la fragilité économique des jeunes : multiplication des CDD, « uberisation » du travail, pouvoir d'achat qui stagne face à un coût du logement qui a explosé.
Le pouvoir d'achat est en effet sous tension. L'inflation de ces dernières années a fait grimper les prix de l'alimentation, de l'énergie et des transports, alors que les revenus des jeunes, étudiants ou jeunes actifs, sont généralement modestes. Le coût du logement est devenu un obstacle majeur. Les loyers sont élevés dans les grandes villes et les villes universitaires, les propriétaires exigent des garants et des dossiers solides, et l'accès à la propriété est devenu très difficile pour une génération qui débute sa carrière. Devenir autonome financièrement demande aujourd'hui un effort plus important qu'il y a quelques décennies.
De plus, l'entrée dans l'emploi se fait trop souvent par des contrats précaires : CDD à répétition, intérim, temps partiel subi, stages enchaînés, voire missions de courte durée sans perspective. Dans ces conditions, il est paradoxal de reprocher aux jeunes leur manque de fidélité à l'entreprise. Comment demander de la loyauté à quelqu'un à qui l'on ne propose, au départ, que de l'instabilité ? La fidélité se construit des deux côtés. Le manque d'engagement aveugle est donc une réponse rationnelle à une précarisation structurelle.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élément, et c'est sans doute le plus important : l'incertitude. Elodie Gentina dresse le portrait d'une génération qui grandit dans l'anxiété. Comment s'investir à 100 % pendant quarante ans quand l'avenir est incertain ?
D'abord, le chômage. Le taux de chômage des jeunes reste nettement supérieur à celui de l'ensemble de la population, souvent plus du double. Même avec un diplôme, beaucoup enchaînent plusieurs contrats courts avant d'obtenir un emploi stable.
Ensuite, les incertitudes économiques. La croissance est modérée, la dette publique dépasse les 110 % du PIB, le pouvoir d'achat est fragilisé. L'ascenseur social semble en panne. On leur annonce la facture, sans leur promettre les moyens de la payer.
Troisième source d'inquiétude : la démographie. La population vieillit, le nombre d'actifs par retraité diminue. Les jeunes savent qu'ils devront cotiser davantage, ou plus longtemps, sans être sûrs de bénéficier d'un système aussi protecteur que celui de leurs parents.
Enfin, l'intelligence artificielle transforme déjà de nombreux métiers : bureau, gestion, comptabilité, relation client. Il est difficile de se projeter quand on ne sait pas si le métier visé existera encore à la fin de sa carrière.
Georges Lewi résume bien cet état d'esprit : la Génération Z est « désenchantée », mais elle est surtout lucide. On ne s'angoisse pas pour un emploi que l'on ne veut pas. Ce que cette génération refuse, c'est de se sacrifier pour un système qui ne lui garantit plus de lendemains qui chantent.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ce stade, on peut déjà répondre : sur le plan des faits, l'idée reçue est fausse. Les jeunes travaillent, souvent tôt, souvent dans des conditions difficiles, et dans un contexte d'incertitude.
Mais il reste une question : pourquoi cette impression de changement persiste-t-elle ? Parce que quelque chose a bel et bien évolué, et c'est leur rapport au travail.
Ce qui est vrai, c'est que les jeunes ne conçoivent plus le travail de la même manière que leurs aînés. Mais changer de façon de travailler, ce n'est pas arrêter de travailler.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générations précédentes, le travail était souvent le principal symbole de réussite sociale et d'accomplissement personnel. Ollivier et Tanguy sont catégoriques : pour les générations précédentes, notamment les baby-boomers, le travail était le pilier de l'identité sociale. On « était » ce que l'on faisait. On se définissait par son métier, on faisait carrière dans la même entreprise parfois pendant trente ou quarante ans, et l'on y voyait la preuve de sa valeur.
Pour la Génération Z, en revanche, le travail a été en quelque sorte désacralisé. Il reste important, mais il n'est plus nécessairement l'unique source de réussite ou d'épanouissement. La famille, les amis, les loisirs, le sport, les voyages, l'engagement associatif ou les projets personnels comptent autant, et parfois davantage. Cela ne signifie pas que le travail perd de sa valeur, mais qu'il partage désormais la place avec d'autres dimensions de la vie. Réussir sa vie, ce n'est plus seulement faire carrière.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évolution s'exprime dans une formule devenue très répandue : « travailler pour vivre plutôt que vivre pour travailler ». Georges Lewi théorise précisément cette bascule. Elle traduit la recherche d'un meilleur équilibre entre vie professionnelle et vie personnelle : entre un salaire très élevé avec un risque d'épuisement et un salaire correct avec du temps libre, notre génération se tourne massivement vers la seconde option.
Il faut comprendre d'où vient cette attitude. Les jeunes ont vu leurs parents, ou leurs proches, s'épuiser au travail, subir le stress, le burn-out, parfois être licenciés après des années de dévouement total à leur entreprise. Ils en ont tiré une conclusion : il ne faut pas tout sacrifier à l'entreprise, car rien ne garantit qu'elle fera de même en retour. Cette prise de conscience a été accentuée par la crise sanitaire.
On peut d'ailleurs noter que cette aspiration ne concerne pas que les jeunes : de nombreux salariés plus âgés se retrouvent dans ces préoccupations. Les jeunes ne font que les exprimer plus ouvertement. Ce n'est donc pas du désengagement, mais de la lucidité.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Enfin, leur relation à l'entreprise évolue. Elle devient plus exigeante, presque transactionnelle. Les jeunes accordent une grande importance à la rémunération, ce qui est tout à fait logique au vu du coût de la vie et de la difficulté à se loger. Mais ils sont aussi très attentifs au sens de leur mission, à l'ambiance de travail, aux possibilités d'évolution, à la formation proposée, à la flexibilité et aux valeurs de l'entreprise, qu'elles soient sociales ou environnementales : la Génération Z veut une entreprise éthique et transparente.
Pour la fidéliser, Elodie Gentina affirme que le manager doit abandonner sa posture de « petit chef » pour devenir un « manager-coach ». Concrètement, cela passe par des retours fréquents sur le travail réalisé, de la considération, l'association aux décisions et la démonstration de l'utilité concrète de ce que l'on produit. Ce besoin d'accompagnement est d'autant plus important que l'intelligence artificielle réduit les occasions d'apprendre sur le terrain.
Les jeunes sont donc moins fidèles par principe, mais ils sont capables de s'investir fortement quand ils trouvent un environnement qui leur convient. Beaucoup d'entreprises qui ont adapté leurs pratiques constatent d'ailleurs que le problème de motivation disparaît.
L'entreprise doit donc changer de logique : il ne s'agit plus d'exiger l'engagement comme un dû, mais de le mériter. Ce n'est pas un rejet du travail. C'est une demande de réciprocité.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Alors, vrai ou faux ? Dans l'ensemble, faux. Les jeunes veulent travailler. Ils le prouvent par l'alternance, les stages et les emplois étudiants, et ils le font dans un contexte difficile, marqué par la précarité, le coût de la vie, le prix du logement et de nombreuses incertitudes : chômage, dette, retraites, intelligence artificielle. L'idée reçue ne résiste donc pas à l'analyse des faits.
Ce qui est vrai, en revanche, c'est que leurs attentes ont évolué. Les trois ouvrages convergent sur ce point : Ollivier et Tanguy parlent d'un travail désacralisé, Lewi d'une génération qui travaille pour vivre, et Gentina d'un management à repenser. Ces jeunes veulent un travail qui ait du sens, qui soit correctement rémunéré, qui leur laisse du temps pour vivre à côté et qui leur offre des perspectives. Plutôt que de parler d'une jeunesse qui ne veut plus travailler, il serait plus juste de parler d'une jeunesse qui ne veut plus travailler à n'importe quel prix.
Chaque génération a été jugée par la précédente, et chaque génération a fini par faire tourner l'économie à son tour. La vraie question n'est peut-être pas de savoir si les jeunes veulent travailler, mais si les entreprises et la société sont prêtes à s'adapter à cette nouvelle génération, celle qui sera, de toute façon, aux commandes de l'économie de demain.
Je vous remercie de votre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nchor="ctr"/>
          <a:lstStyle/>
          <a:p>
            <a:pPr algn="l" indent="0" marL="0">
              <a:buNone/>
            </a:pPr>
            <a:r>
              <a:rPr lang="en-US" sz="4400" b="1" dirty="0">
                <a:solidFill>
                  <a:schemeClr val="bg1"/>
                </a:solidFill>
              </a:rPr>
              <a:t>Les jeunes ne veulent-ils vraiment plus travailler ?</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nchor="t"/>
          <a:lstStyle/>
          <a:p>
            <a:pPr indent="0" marL="0">
              <a:buNone/>
            </a:pPr>
            <a:r>
              <a:rPr lang="en-US" sz="2000" dirty="0">
                <a:solidFill>
                  <a:schemeClr val="bg2"/>
                </a:solidFill>
              </a:rPr>
              <a:t>Vrai ou faux : analyse d'une idée reçue</a:t>
            </a:r>
            <a:endParaRPr lang="en-US" sz="2000" dirty="0"/>
          </a:p>
        </p:txBody>
      </p:sp>
      <p:sp>
        <p:nvSpPr>
          <p:cNvPr id="4" name="Shape 2"/>
          <p:cNvSpPr/>
          <p:nvPr/>
        </p:nvSpPr>
        <p:spPr>
          <a:xfrm>
            <a:off x="731520" y="822960"/>
            <a:ext cx="822960" cy="82296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932688" y="1024128"/>
            <a:ext cx="420624" cy="420624"/>
          </a:xfrm>
          <a:prstGeom prst="rect">
            <a:avLst/>
          </a:prstGeom>
        </p:spPr>
      </p:pic>
      <p:sp>
        <p:nvSpPr>
          <p:cNvPr id="6" name="Text 3"/>
          <p:cNvSpPr txBox="1"/>
          <p:nvPr/>
        </p:nvSpPr>
        <p:spPr>
          <a:xfrm>
            <a:off x="731520" y="5760720"/>
            <a:ext cx="5486400" cy="365760"/>
          </a:xfrm>
          <a:prstGeom prst="rect">
            <a:avLst/>
          </a:prstGeom>
          <a:noFill/>
          <a:ln/>
        </p:spPr>
        <p:txBody>
          <a:bodyPr wrap="square" lIns="0" tIns="0" rIns="0" bIns="0" rtlCol="0" anchor="ctr"/>
          <a:lstStyle/>
          <a:p>
            <a:pPr indent="0" marL="0">
              <a:buNone/>
            </a:pPr>
            <a:r>
              <a:rPr lang="en-US" sz="1400" dirty="0">
                <a:solidFill>
                  <a:schemeClr val="accent6"/>
                </a:solidFill>
              </a:rPr>
              <a:t>Oral · 15 minutes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INTRODUCTION</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Une phrase que tout le monde a déjà entendue</a:t>
            </a:r>
            <a:endParaRPr lang="en-US" sz="3400" dirty="0"/>
          </a:p>
        </p:txBody>
      </p:sp>
      <p:sp>
        <p:nvSpPr>
          <p:cNvPr id="5" name="Shape 2"/>
          <p:cNvSpPr/>
          <p:nvPr/>
        </p:nvSpPr>
        <p:spPr>
          <a:xfrm>
            <a:off x="640080" y="1783080"/>
            <a:ext cx="10908792" cy="1554480"/>
          </a:xfrm>
          <a:prstGeom prst="roundRect">
            <a:avLst>
              <a:gd name="adj" fmla="val 8824"/>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1005840" y="2148840"/>
            <a:ext cx="731520" cy="731520"/>
          </a:xfrm>
          <a:prstGeom prst="rect">
            <a:avLst/>
          </a:prstGeom>
        </p:spPr>
      </p:pic>
      <p:sp>
        <p:nvSpPr>
          <p:cNvPr id="7" name="Text 3"/>
          <p:cNvSpPr txBox="1"/>
          <p:nvPr/>
        </p:nvSpPr>
        <p:spPr>
          <a:xfrm>
            <a:off x="2011680" y="1783080"/>
            <a:ext cx="9326880" cy="1554480"/>
          </a:xfrm>
          <a:prstGeom prst="rect">
            <a:avLst/>
          </a:prstGeom>
          <a:noFill/>
          <a:ln/>
        </p:spPr>
        <p:txBody>
          <a:bodyPr wrap="square" lIns="0" tIns="0" rIns="0" bIns="0" rtlCol="0" anchor="ctr"/>
          <a:lstStyle/>
          <a:p>
            <a:pPr indent="0" marL="0">
              <a:buNone/>
            </a:pPr>
            <a:r>
              <a:rPr lang="en-US" sz="3200" b="1" i="1" dirty="0">
                <a:solidFill>
                  <a:schemeClr val="bg1"/>
                </a:solidFill>
                <a:latin typeface="Cambria" pitchFamily="34" charset="0"/>
                <a:ea typeface="Cambria" pitchFamily="34" charset="-122"/>
                <a:cs typeface="Cambria" pitchFamily="34" charset="-120"/>
              </a:rPr>
              <a:t>« Les jeunes ne veulent plus travailler. »</a:t>
            </a:r>
            <a:endParaRPr lang="en-US" sz="3200" dirty="0"/>
          </a:p>
        </p:txBody>
      </p:sp>
      <p:sp>
        <p:nvSpPr>
          <p:cNvPr id="8" name="Points clés"/>
          <p:cNvSpPr txBox="1"/>
          <p:nvPr/>
        </p:nvSpPr>
        <p:spPr>
          <a:xfrm>
            <a:off x="640080" y="3657600"/>
            <a:ext cx="10881360" cy="256032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On l'entend au repas de famille, dans les reportages, chez les employeurs qui peinent à recruter.</a:t>
            </a:r>
            <a:endParaRPr lang="en-US" sz="1900" dirty="0"/>
          </a:p>
          <a:p>
            <a:pPr marL="228600" indent="-228600">
              <a:spcAft>
                <a:spcPts val="1400"/>
              </a:spcAft>
              <a:buSzPct val="100000"/>
              <a:buChar char="•"/>
            </a:pPr>
            <a:r>
              <a:rPr lang="en-US" sz="1900" dirty="0">
                <a:solidFill>
                  <a:schemeClr val="tx1"/>
                </a:solidFill>
              </a:rPr>
              <a:t>Elle paraît évidente, mais chaque génération a dit la même chose de la suivante.</a:t>
            </a:r>
            <a:endParaRPr lang="en-US" sz="1900" dirty="0"/>
          </a:p>
          <a:p>
            <a:pPr marL="228600" indent="-228600">
              <a:spcAft>
                <a:spcPts val="1400"/>
              </a:spcAft>
              <a:buSzPct val="100000"/>
              <a:buChar char="•"/>
            </a:pPr>
            <a:r>
              <a:rPr lang="en-US" sz="1900" dirty="0">
                <a:solidFill>
                  <a:schemeClr val="tx1"/>
                </a:solidFill>
              </a:rPr>
              <a:t>Aujourd'hui, on joue au jeu du vrai ou faux avec cette affirmation.</a:t>
            </a:r>
            <a:endParaRPr lang="en-US" sz="19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INTRODUCTION</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Un débat concret, appuyé sur trois ouvrages</a:t>
            </a:r>
            <a:endParaRPr lang="en-US" sz="3400" dirty="0"/>
          </a:p>
        </p:txBody>
      </p:sp>
      <p:sp>
        <p:nvSpPr>
          <p:cNvPr id="5" name="Points clés"/>
          <p:cNvSpPr txBox="1"/>
          <p:nvPr/>
        </p:nvSpPr>
        <p:spPr>
          <a:xfrm>
            <a:off x="640080" y="1783080"/>
            <a:ext cx="10881360" cy="192024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Les entreprises déclarent des difficultés de recrutement et le marché du travail se transforme.</a:t>
            </a:r>
            <a:endParaRPr lang="en-US" sz="1900" dirty="0"/>
          </a:p>
          <a:p>
            <a:pPr marL="228600" indent="-228600">
              <a:spcAft>
                <a:spcPts val="1400"/>
              </a:spcAft>
              <a:buSzPct val="100000"/>
              <a:buChar char="•"/>
            </a:pPr>
            <a:r>
              <a:rPr lang="en-US" sz="1900" dirty="0">
                <a:solidFill>
                  <a:schemeClr val="tx1"/>
                </a:solidFill>
              </a:rPr>
              <a:t>Le débat public oppose régulièrement les générations.</a:t>
            </a:r>
            <a:endParaRPr lang="en-US" sz="1900" dirty="0"/>
          </a:p>
          <a:p>
            <a:pPr marL="228600" indent="-228600">
              <a:spcAft>
                <a:spcPts val="1400"/>
              </a:spcAft>
              <a:buSzPct val="100000"/>
              <a:buChar char="•"/>
            </a:pPr>
            <a:r>
              <a:rPr lang="en-US" sz="1900" dirty="0">
                <a:solidFill>
                  <a:schemeClr val="tx1"/>
                </a:solidFill>
              </a:rPr>
              <a:t>Pour dépasser les impressions, on s'appuie sur trois références :</a:t>
            </a:r>
            <a:endParaRPr lang="en-US" sz="1900" dirty="0"/>
          </a:p>
        </p:txBody>
      </p:sp>
      <p:sp>
        <p:nvSpPr>
          <p:cNvPr id="6" name="Ouvrage 1"/>
          <p:cNvSpPr/>
          <p:nvPr/>
        </p:nvSpPr>
        <p:spPr>
          <a:xfrm>
            <a:off x="640080" y="3931920"/>
            <a:ext cx="3429000" cy="2103120"/>
          </a:xfrm>
          <a:prstGeom prst="roundRect">
            <a:avLst>
              <a:gd name="adj" fmla="val 6522"/>
            </a:avLst>
          </a:prstGeom>
          <a:solidFill>
            <a:schemeClr val="bg2"/>
          </a:solidFill>
          <a:ln w="12700">
            <a:solidFill>
              <a:schemeClr val="bg2"/>
            </a:solidFill>
            <a:prstDash val="solid"/>
          </a:ln>
        </p:spPr>
      </p:sp>
      <p:sp>
        <p:nvSpPr>
          <p:cNvPr id="7" name="Shape 4"/>
          <p:cNvSpPr/>
          <p:nvPr/>
        </p:nvSpPr>
        <p:spPr>
          <a:xfrm>
            <a:off x="914400" y="4206240"/>
            <a:ext cx="640080" cy="640080"/>
          </a:xfrm>
          <a:prstGeom prst="ellipse">
            <a:avLst/>
          </a:prstGeom>
          <a:solidFill>
            <a:schemeClr val="accent1"/>
          </a:solidFill>
          <a:ln w="12700">
            <a:solidFill>
              <a:schemeClr val="accent1"/>
            </a:solidFill>
            <a:prstDash val="solid"/>
          </a:ln>
        </p:spPr>
      </p:sp>
      <p:pic>
        <p:nvPicPr>
          <p:cNvPr id="8" name="Image 0" descr="preencoded.png">    </p:cNvPr>
          <p:cNvPicPr>
            <a:picLocks noChangeAspect="1"/>
          </p:cNvPicPr>
          <p:nvPr/>
        </p:nvPicPr>
        <p:blipFill>
          <a:blip r:embed="rId1"/>
          <a:stretch>
            <a:fillRect/>
          </a:stretch>
        </p:blipFill>
        <p:spPr>
          <a:xfrm>
            <a:off x="1069848" y="4361688"/>
            <a:ext cx="329184" cy="329184"/>
          </a:xfrm>
          <a:prstGeom prst="rect">
            <a:avLst/>
          </a:prstGeom>
        </p:spPr>
      </p:pic>
      <p:sp>
        <p:nvSpPr>
          <p:cNvPr id="9" name="Text 5"/>
          <p:cNvSpPr txBox="1"/>
          <p:nvPr/>
        </p:nvSpPr>
        <p:spPr>
          <a:xfrm>
            <a:off x="914400" y="4937760"/>
            <a:ext cx="2880360" cy="640080"/>
          </a:xfrm>
          <a:prstGeom prst="rect">
            <a:avLst/>
          </a:prstGeom>
          <a:noFill/>
          <a:ln/>
        </p:spPr>
        <p:txBody>
          <a:bodyPr wrap="square" lIns="0" tIns="0" rIns="0" bIns="0" rtlCol="0" anchor="t"/>
          <a:lstStyle/>
          <a:p>
            <a:pPr indent="0" marL="0">
              <a:buNone/>
            </a:pPr>
            <a:r>
              <a:rPr lang="en-US" sz="1700" b="1" i="1" dirty="0">
                <a:solidFill>
                  <a:schemeClr val="tx2"/>
                </a:solidFill>
                <a:latin typeface="Cambria" pitchFamily="34" charset="0"/>
                <a:ea typeface="Cambria" pitchFamily="34" charset="-122"/>
                <a:cs typeface="Cambria" pitchFamily="34" charset="-120"/>
              </a:rPr>
              <a:t>Génération Z : Mode d'emploi</a:t>
            </a:r>
            <a:endParaRPr lang="en-US" sz="1700" dirty="0"/>
          </a:p>
        </p:txBody>
      </p:sp>
      <p:sp>
        <p:nvSpPr>
          <p:cNvPr id="10" name="Text 6"/>
          <p:cNvSpPr txBox="1"/>
          <p:nvPr/>
        </p:nvSpPr>
        <p:spPr>
          <a:xfrm>
            <a:off x="914400" y="5577840"/>
            <a:ext cx="2880360" cy="320040"/>
          </a:xfrm>
          <a:prstGeom prst="rect">
            <a:avLst/>
          </a:prstGeom>
          <a:noFill/>
          <a:ln/>
        </p:spPr>
        <p:txBody>
          <a:bodyPr wrap="square" lIns="0" tIns="0" rIns="0" bIns="0" rtlCol="0" anchor="ctr"/>
          <a:lstStyle/>
          <a:p>
            <a:pPr indent="0" marL="0">
              <a:buNone/>
            </a:pPr>
            <a:r>
              <a:rPr lang="en-US" sz="1400" dirty="0">
                <a:solidFill>
                  <a:schemeClr val="accent6"/>
                </a:solidFill>
              </a:rPr>
              <a:t>Georges Lewi</a:t>
            </a:r>
            <a:endParaRPr lang="en-US" sz="1400" dirty="0"/>
          </a:p>
        </p:txBody>
      </p:sp>
      <p:sp>
        <p:nvSpPr>
          <p:cNvPr id="11" name="Ouvrage 2"/>
          <p:cNvSpPr/>
          <p:nvPr/>
        </p:nvSpPr>
        <p:spPr>
          <a:xfrm>
            <a:off x="4379976" y="3931920"/>
            <a:ext cx="3429000" cy="2103120"/>
          </a:xfrm>
          <a:prstGeom prst="roundRect">
            <a:avLst>
              <a:gd name="adj" fmla="val 6522"/>
            </a:avLst>
          </a:prstGeom>
          <a:solidFill>
            <a:schemeClr val="bg2"/>
          </a:solidFill>
          <a:ln w="12700">
            <a:solidFill>
              <a:schemeClr val="bg2"/>
            </a:solidFill>
            <a:prstDash val="solid"/>
          </a:ln>
        </p:spPr>
      </p:sp>
      <p:sp>
        <p:nvSpPr>
          <p:cNvPr id="12" name="Shape 8"/>
          <p:cNvSpPr/>
          <p:nvPr/>
        </p:nvSpPr>
        <p:spPr>
          <a:xfrm>
            <a:off x="4654296" y="4206240"/>
            <a:ext cx="640080" cy="64008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4809744" y="4361688"/>
            <a:ext cx="329184" cy="329184"/>
          </a:xfrm>
          <a:prstGeom prst="rect">
            <a:avLst/>
          </a:prstGeom>
        </p:spPr>
      </p:pic>
      <p:sp>
        <p:nvSpPr>
          <p:cNvPr id="14" name="Text 9"/>
          <p:cNvSpPr txBox="1"/>
          <p:nvPr/>
        </p:nvSpPr>
        <p:spPr>
          <a:xfrm>
            <a:off x="4654296" y="4937760"/>
            <a:ext cx="2880360" cy="640080"/>
          </a:xfrm>
          <a:prstGeom prst="rect">
            <a:avLst/>
          </a:prstGeom>
          <a:noFill/>
          <a:ln/>
        </p:spPr>
        <p:txBody>
          <a:bodyPr wrap="square" lIns="0" tIns="0" rIns="0" bIns="0" rtlCol="0" anchor="t"/>
          <a:lstStyle/>
          <a:p>
            <a:pPr indent="0" marL="0">
              <a:buNone/>
            </a:pPr>
            <a:r>
              <a:rPr lang="en-US" sz="1700" b="1" i="1" dirty="0">
                <a:solidFill>
                  <a:schemeClr val="tx2"/>
                </a:solidFill>
                <a:latin typeface="Cambria" pitchFamily="34" charset="0"/>
                <a:ea typeface="Cambria" pitchFamily="34" charset="-122"/>
                <a:cs typeface="Cambria" pitchFamily="34" charset="-120"/>
              </a:rPr>
              <a:t>Manager la génération Z</a:t>
            </a:r>
            <a:endParaRPr lang="en-US" sz="1700" dirty="0"/>
          </a:p>
        </p:txBody>
      </p:sp>
      <p:sp>
        <p:nvSpPr>
          <p:cNvPr id="15" name="Text 10"/>
          <p:cNvSpPr txBox="1"/>
          <p:nvPr/>
        </p:nvSpPr>
        <p:spPr>
          <a:xfrm>
            <a:off x="4654296" y="5577840"/>
            <a:ext cx="2880360" cy="320040"/>
          </a:xfrm>
          <a:prstGeom prst="rect">
            <a:avLst/>
          </a:prstGeom>
          <a:noFill/>
          <a:ln/>
        </p:spPr>
        <p:txBody>
          <a:bodyPr wrap="square" lIns="0" tIns="0" rIns="0" bIns="0" rtlCol="0" anchor="ctr"/>
          <a:lstStyle/>
          <a:p>
            <a:pPr indent="0" marL="0">
              <a:buNone/>
            </a:pPr>
            <a:r>
              <a:rPr lang="en-US" sz="1400" dirty="0">
                <a:solidFill>
                  <a:schemeClr val="accent6"/>
                </a:solidFill>
              </a:rPr>
              <a:t>Elodie Gentina</a:t>
            </a:r>
            <a:endParaRPr lang="en-US" sz="1400" dirty="0"/>
          </a:p>
        </p:txBody>
      </p:sp>
      <p:sp>
        <p:nvSpPr>
          <p:cNvPr id="16" name="Ouvrage 3"/>
          <p:cNvSpPr/>
          <p:nvPr/>
        </p:nvSpPr>
        <p:spPr>
          <a:xfrm>
            <a:off x="8119872" y="3931920"/>
            <a:ext cx="3429000" cy="2103120"/>
          </a:xfrm>
          <a:prstGeom prst="roundRect">
            <a:avLst>
              <a:gd name="adj" fmla="val 6522"/>
            </a:avLst>
          </a:prstGeom>
          <a:solidFill>
            <a:schemeClr val="bg2"/>
          </a:solidFill>
          <a:ln w="12700">
            <a:solidFill>
              <a:schemeClr val="bg2"/>
            </a:solidFill>
            <a:prstDash val="solid"/>
          </a:ln>
        </p:spPr>
      </p:sp>
      <p:sp>
        <p:nvSpPr>
          <p:cNvPr id="17" name="Shape 12"/>
          <p:cNvSpPr/>
          <p:nvPr/>
        </p:nvSpPr>
        <p:spPr>
          <a:xfrm>
            <a:off x="8394192" y="4206240"/>
            <a:ext cx="640080" cy="640080"/>
          </a:xfrm>
          <a:prstGeom prst="ellipse">
            <a:avLst/>
          </a:prstGeom>
          <a:solidFill>
            <a:schemeClr val="accent1"/>
          </a:solidFill>
          <a:ln w="12700">
            <a:solidFill>
              <a:schemeClr val="accent1"/>
            </a:solidFill>
            <a:prstDash val="solid"/>
          </a:ln>
        </p:spPr>
      </p:sp>
      <p:pic>
        <p:nvPicPr>
          <p:cNvPr id="18" name="Image 2" descr="preencoded.png">    </p:cNvPr>
          <p:cNvPicPr>
            <a:picLocks noChangeAspect="1"/>
          </p:cNvPicPr>
          <p:nvPr/>
        </p:nvPicPr>
        <p:blipFill>
          <a:blip r:embed="rId3"/>
          <a:stretch>
            <a:fillRect/>
          </a:stretch>
        </p:blipFill>
        <p:spPr>
          <a:xfrm>
            <a:off x="8549640" y="4361688"/>
            <a:ext cx="329184" cy="329184"/>
          </a:xfrm>
          <a:prstGeom prst="rect">
            <a:avLst/>
          </a:prstGeom>
        </p:spPr>
      </p:pic>
      <p:sp>
        <p:nvSpPr>
          <p:cNvPr id="19" name="Text 13"/>
          <p:cNvSpPr txBox="1"/>
          <p:nvPr/>
        </p:nvSpPr>
        <p:spPr>
          <a:xfrm>
            <a:off x="8394192" y="4937760"/>
            <a:ext cx="2880360" cy="640080"/>
          </a:xfrm>
          <a:prstGeom prst="rect">
            <a:avLst/>
          </a:prstGeom>
          <a:noFill/>
          <a:ln/>
        </p:spPr>
        <p:txBody>
          <a:bodyPr wrap="square" lIns="0" tIns="0" rIns="0" bIns="0" rtlCol="0" anchor="t"/>
          <a:lstStyle/>
          <a:p>
            <a:pPr indent="0" marL="0">
              <a:buNone/>
            </a:pPr>
            <a:r>
              <a:rPr lang="en-US" sz="1700" b="1" i="1" dirty="0">
                <a:solidFill>
                  <a:schemeClr val="tx2"/>
                </a:solidFill>
                <a:latin typeface="Cambria" pitchFamily="34" charset="0"/>
                <a:ea typeface="Cambria" pitchFamily="34" charset="-122"/>
                <a:cs typeface="Cambria" pitchFamily="34" charset="-120"/>
              </a:rPr>
              <a:t>Entreprise : les Z arrivent !</a:t>
            </a:r>
            <a:endParaRPr lang="en-US" sz="1700" dirty="0"/>
          </a:p>
        </p:txBody>
      </p:sp>
      <p:sp>
        <p:nvSpPr>
          <p:cNvPr id="20" name="Text 14"/>
          <p:cNvSpPr txBox="1"/>
          <p:nvPr/>
        </p:nvSpPr>
        <p:spPr>
          <a:xfrm>
            <a:off x="8394192" y="5577840"/>
            <a:ext cx="2880360" cy="320040"/>
          </a:xfrm>
          <a:prstGeom prst="rect">
            <a:avLst/>
          </a:prstGeom>
          <a:noFill/>
          <a:ln/>
        </p:spPr>
        <p:txBody>
          <a:bodyPr wrap="square" lIns="0" tIns="0" rIns="0" bIns="0" rtlCol="0" anchor="ctr"/>
          <a:lstStyle/>
          <a:p>
            <a:pPr indent="0" marL="0">
              <a:buNone/>
            </a:pPr>
            <a:r>
              <a:rPr lang="en-US" sz="1400" dirty="0">
                <a:solidFill>
                  <a:schemeClr val="accent6"/>
                </a:solidFill>
              </a:rPr>
              <a:t>Daniel Ollivier &amp; Catherine Tanguy</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PROBLÉMATIQUE ET PLAN</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L'idée reçue résiste-t-elle à l'analyse ?</a:t>
            </a:r>
            <a:endParaRPr lang="en-US" sz="3400" dirty="0"/>
          </a:p>
        </p:txBody>
      </p:sp>
      <p:sp>
        <p:nvSpPr>
          <p:cNvPr id="5" name="Shape 2"/>
          <p:cNvSpPr/>
          <p:nvPr/>
        </p:nvSpPr>
        <p:spPr>
          <a:xfrm>
            <a:off x="640080" y="1783080"/>
            <a:ext cx="10908792" cy="1463040"/>
          </a:xfrm>
          <a:prstGeom prst="roundRect">
            <a:avLst>
              <a:gd name="adj" fmla="val 9375"/>
            </a:avLst>
          </a:prstGeom>
          <a:solidFill>
            <a:schemeClr val="bg2"/>
          </a:solidFill>
          <a:ln w="12700">
            <a:solidFill>
              <a:schemeClr val="bg2"/>
            </a:solidFill>
            <a:prstDash val="solid"/>
          </a:ln>
        </p:spPr>
      </p:sp>
      <p:sp>
        <p:nvSpPr>
          <p:cNvPr id="6" name="Text 3"/>
          <p:cNvSpPr txBox="1"/>
          <p:nvPr/>
        </p:nvSpPr>
        <p:spPr>
          <a:xfrm>
            <a:off x="1005840" y="1783080"/>
            <a:ext cx="10149840" cy="1463040"/>
          </a:xfrm>
          <a:prstGeom prst="rect">
            <a:avLst/>
          </a:prstGeom>
          <a:noFill/>
          <a:ln/>
        </p:spPr>
        <p:txBody>
          <a:bodyPr wrap="square" lIns="0" tIns="0" rIns="0" bIns="0" rtlCol="0" anchor="ctr"/>
          <a:lstStyle/>
          <a:p>
            <a:pPr indent="0" marL="0">
              <a:buNone/>
            </a:pPr>
            <a:r>
              <a:rPr lang="en-US" sz="1900" i="1" dirty="0">
                <a:solidFill>
                  <a:schemeClr val="tx2"/>
                </a:solidFill>
              </a:rPr>
              <a:t>L'idée selon laquelle les jeunes ne veulent plus travailler résiste-t-elle à l'analyse des réalités économiques, des incertitudes sur l'avenir et de l'évolution de leurs aspirations ?</a:t>
            </a:r>
            <a:endParaRPr lang="en-US" sz="1900" dirty="0"/>
          </a:p>
        </p:txBody>
      </p:sp>
      <p:sp>
        <p:nvSpPr>
          <p:cNvPr id="7" name="Shape 4"/>
          <p:cNvSpPr/>
          <p:nvPr/>
        </p:nvSpPr>
        <p:spPr>
          <a:xfrm>
            <a:off x="640080" y="3611880"/>
            <a:ext cx="822960" cy="822960"/>
          </a:xfrm>
          <a:prstGeom prst="ellipse">
            <a:avLst/>
          </a:prstGeom>
          <a:solidFill>
            <a:schemeClr val="tx2"/>
          </a:solidFill>
          <a:ln w="12700">
            <a:solidFill>
              <a:schemeClr val="tx2"/>
            </a:solidFill>
            <a:prstDash val="solid"/>
          </a:ln>
        </p:spPr>
      </p:sp>
      <p:sp>
        <p:nvSpPr>
          <p:cNvPr id="8" name="Text 5"/>
          <p:cNvSpPr txBox="1"/>
          <p:nvPr/>
        </p:nvSpPr>
        <p:spPr>
          <a:xfrm>
            <a:off x="640080" y="3611880"/>
            <a:ext cx="822960" cy="822960"/>
          </a:xfrm>
          <a:prstGeom prst="rect">
            <a:avLst/>
          </a:prstGeom>
          <a:noFill/>
          <a:ln/>
        </p:spPr>
        <p:txBody>
          <a:bodyPr wrap="square" lIns="0" tIns="0" rIns="0" bIns="0" rtlCol="0" anchor="ctr"/>
          <a:lstStyle/>
          <a:p>
            <a:pPr algn="ctr" indent="0" marL="0">
              <a:buNone/>
            </a:pPr>
            <a:r>
              <a:rPr lang="en-US" sz="2400" b="1" dirty="0">
                <a:solidFill>
                  <a:schemeClr val="accent1"/>
                </a:solidFill>
                <a:latin typeface="Cambria" pitchFamily="34" charset="0"/>
                <a:ea typeface="Cambria" pitchFamily="34" charset="-122"/>
                <a:cs typeface="Cambria" pitchFamily="34" charset="-120"/>
              </a:rPr>
              <a:t>I</a:t>
            </a:r>
            <a:endParaRPr lang="en-US" sz="2400" dirty="0"/>
          </a:p>
        </p:txBody>
      </p:sp>
      <p:sp>
        <p:nvSpPr>
          <p:cNvPr id="9" name="Text 6"/>
          <p:cNvSpPr txBox="1"/>
          <p:nvPr/>
        </p:nvSpPr>
        <p:spPr>
          <a:xfrm>
            <a:off x="640080" y="4617720"/>
            <a:ext cx="3429000" cy="1280160"/>
          </a:xfrm>
          <a:prstGeom prst="rect">
            <a:avLst/>
          </a:prstGeom>
          <a:noFill/>
          <a:ln/>
        </p:spPr>
        <p:txBody>
          <a:bodyPr wrap="square" lIns="0" tIns="0" rIns="0" bIns="0" rtlCol="0" anchor="t"/>
          <a:lstStyle/>
          <a:p>
            <a:pPr indent="0" marL="0">
              <a:buNone/>
            </a:pPr>
            <a:r>
              <a:rPr lang="en-US" sz="1800" b="1" dirty="0">
                <a:solidFill>
                  <a:schemeClr val="tx1"/>
                </a:solidFill>
              </a:rPr>
              <a:t>Une génération accusée de manquer de motivation</a:t>
            </a:r>
            <a:endParaRPr lang="en-US" sz="1800" dirty="0"/>
          </a:p>
        </p:txBody>
      </p:sp>
      <p:sp>
        <p:nvSpPr>
          <p:cNvPr id="10" name="Shape 7"/>
          <p:cNvSpPr/>
          <p:nvPr/>
        </p:nvSpPr>
        <p:spPr>
          <a:xfrm>
            <a:off x="4379976" y="3611880"/>
            <a:ext cx="822960" cy="822960"/>
          </a:xfrm>
          <a:prstGeom prst="ellipse">
            <a:avLst/>
          </a:prstGeom>
          <a:solidFill>
            <a:schemeClr val="tx2"/>
          </a:solidFill>
          <a:ln w="12700">
            <a:solidFill>
              <a:schemeClr val="tx2"/>
            </a:solidFill>
            <a:prstDash val="solid"/>
          </a:ln>
        </p:spPr>
      </p:sp>
      <p:sp>
        <p:nvSpPr>
          <p:cNvPr id="11" name="Text 8"/>
          <p:cNvSpPr txBox="1"/>
          <p:nvPr/>
        </p:nvSpPr>
        <p:spPr>
          <a:xfrm>
            <a:off x="4379976" y="3611880"/>
            <a:ext cx="822960" cy="822960"/>
          </a:xfrm>
          <a:prstGeom prst="rect">
            <a:avLst/>
          </a:prstGeom>
          <a:noFill/>
          <a:ln/>
        </p:spPr>
        <p:txBody>
          <a:bodyPr wrap="square" lIns="0" tIns="0" rIns="0" bIns="0" rtlCol="0" anchor="ctr"/>
          <a:lstStyle/>
          <a:p>
            <a:pPr algn="ctr" indent="0" marL="0">
              <a:buNone/>
            </a:pPr>
            <a:r>
              <a:rPr lang="en-US" sz="2400" b="1" dirty="0">
                <a:solidFill>
                  <a:schemeClr val="accent1"/>
                </a:solidFill>
                <a:latin typeface="Cambria" pitchFamily="34" charset="0"/>
                <a:ea typeface="Cambria" pitchFamily="34" charset="-122"/>
                <a:cs typeface="Cambria" pitchFamily="34" charset="-120"/>
              </a:rPr>
              <a:t>II</a:t>
            </a:r>
            <a:endParaRPr lang="en-US" sz="2400" dirty="0"/>
          </a:p>
        </p:txBody>
      </p:sp>
      <p:sp>
        <p:nvSpPr>
          <p:cNvPr id="12" name="Text 9"/>
          <p:cNvSpPr txBox="1"/>
          <p:nvPr/>
        </p:nvSpPr>
        <p:spPr>
          <a:xfrm>
            <a:off x="4379976" y="4617720"/>
            <a:ext cx="3429000" cy="1280160"/>
          </a:xfrm>
          <a:prstGeom prst="rect">
            <a:avLst/>
          </a:prstGeom>
          <a:noFill/>
          <a:ln/>
        </p:spPr>
        <p:txBody>
          <a:bodyPr wrap="square" lIns="0" tIns="0" rIns="0" bIns="0" rtlCol="0" anchor="t"/>
          <a:lstStyle/>
          <a:p>
            <a:pPr indent="0" marL="0">
              <a:buNone/>
            </a:pPr>
            <a:r>
              <a:rPr lang="en-US" sz="1800" b="1" dirty="0">
                <a:solidFill>
                  <a:schemeClr val="tx1"/>
                </a:solidFill>
              </a:rPr>
              <a:t>Des réalités économiques et sociales qui contredisent l'idée reçue</a:t>
            </a:r>
            <a:endParaRPr lang="en-US" sz="1800" dirty="0"/>
          </a:p>
        </p:txBody>
      </p:sp>
      <p:sp>
        <p:nvSpPr>
          <p:cNvPr id="13" name="Shape 10"/>
          <p:cNvSpPr/>
          <p:nvPr/>
        </p:nvSpPr>
        <p:spPr>
          <a:xfrm>
            <a:off x="8119872" y="3611880"/>
            <a:ext cx="822960" cy="822960"/>
          </a:xfrm>
          <a:prstGeom prst="ellipse">
            <a:avLst/>
          </a:prstGeom>
          <a:solidFill>
            <a:schemeClr val="tx2"/>
          </a:solidFill>
          <a:ln w="12700">
            <a:solidFill>
              <a:schemeClr val="tx2"/>
            </a:solidFill>
            <a:prstDash val="solid"/>
          </a:ln>
        </p:spPr>
      </p:sp>
      <p:sp>
        <p:nvSpPr>
          <p:cNvPr id="14" name="Text 11"/>
          <p:cNvSpPr txBox="1"/>
          <p:nvPr/>
        </p:nvSpPr>
        <p:spPr>
          <a:xfrm>
            <a:off x="8119872" y="3611880"/>
            <a:ext cx="822960" cy="822960"/>
          </a:xfrm>
          <a:prstGeom prst="rect">
            <a:avLst/>
          </a:prstGeom>
          <a:noFill/>
          <a:ln/>
        </p:spPr>
        <p:txBody>
          <a:bodyPr wrap="square" lIns="0" tIns="0" rIns="0" bIns="0" rtlCol="0" anchor="ctr"/>
          <a:lstStyle/>
          <a:p>
            <a:pPr algn="ctr" indent="0" marL="0">
              <a:buNone/>
            </a:pPr>
            <a:r>
              <a:rPr lang="en-US" sz="2400" b="1" dirty="0">
                <a:solidFill>
                  <a:schemeClr val="accent1"/>
                </a:solidFill>
                <a:latin typeface="Cambria" pitchFamily="34" charset="0"/>
                <a:ea typeface="Cambria" pitchFamily="34" charset="-122"/>
                <a:cs typeface="Cambria" pitchFamily="34" charset="-120"/>
              </a:rPr>
              <a:t>III</a:t>
            </a:r>
            <a:endParaRPr lang="en-US" sz="2400" dirty="0"/>
          </a:p>
        </p:txBody>
      </p:sp>
      <p:sp>
        <p:nvSpPr>
          <p:cNvPr id="15" name="Text 12"/>
          <p:cNvSpPr txBox="1"/>
          <p:nvPr/>
        </p:nvSpPr>
        <p:spPr>
          <a:xfrm>
            <a:off x="8119872" y="4617720"/>
            <a:ext cx="3429000" cy="1280160"/>
          </a:xfrm>
          <a:prstGeom prst="rect">
            <a:avLst/>
          </a:prstGeom>
          <a:noFill/>
          <a:ln/>
        </p:spPr>
        <p:txBody>
          <a:bodyPr wrap="square" lIns="0" tIns="0" rIns="0" bIns="0" rtlCol="0" anchor="t"/>
          <a:lstStyle/>
          <a:p>
            <a:pPr indent="0" marL="0">
              <a:buNone/>
            </a:pPr>
            <a:r>
              <a:rPr lang="en-US" sz="1800" b="1" dirty="0">
                <a:solidFill>
                  <a:schemeClr val="tx1"/>
                </a:solidFill>
              </a:rPr>
              <a:t>Un changement de valeurs plutôt qu'un rejet du travail</a:t>
            </a:r>
            <a:endParaRPr lang="en-US" sz="18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 UNE GÉNÉRATION ACCUSÉE · A</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Les critiques des employeurs</a:t>
            </a:r>
            <a:endParaRPr lang="en-US" sz="3400" dirty="0"/>
          </a:p>
        </p:txBody>
      </p:sp>
      <p:sp>
        <p:nvSpPr>
          <p:cNvPr id="5" name="Points clés"/>
          <p:cNvSpPr txBox="1"/>
          <p:nvPr/>
        </p:nvSpPr>
        <p:spPr>
          <a:xfrm>
            <a:off x="640080" y="1783080"/>
            <a:ext cx="6675120" cy="420624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Restauration, hôtellerie, BTP, commerce, logistique : les employeurs peinent à recruter, et surtout à fidéliser.</a:t>
            </a:r>
            <a:endParaRPr lang="en-US" sz="1900" dirty="0"/>
          </a:p>
          <a:p>
            <a:pPr marL="228600" indent="-228600">
              <a:spcAft>
                <a:spcPts val="1400"/>
              </a:spcAft>
              <a:buSzPct val="100000"/>
              <a:buChar char="•"/>
            </a:pPr>
            <a:r>
              <a:rPr lang="en-US" sz="1900" dirty="0">
                <a:solidFill>
                  <a:schemeClr val="tx1"/>
                </a:solidFill>
              </a:rPr>
              <a:t>Ils décrivent des démissions au bout de quelques semaines et des candidats qui disparaissent : le « ghosting » professionnel.</a:t>
            </a:r>
            <a:endParaRPr lang="en-US" sz="1900" dirty="0"/>
          </a:p>
          <a:p>
            <a:pPr marL="228600" indent="-228600">
              <a:spcAft>
                <a:spcPts val="1400"/>
              </a:spcAft>
              <a:buSzPct val="100000"/>
              <a:buChar char="•"/>
            </a:pPr>
            <a:r>
              <a:rPr lang="en-US" sz="1900" dirty="0">
                <a:solidFill>
                  <a:schemeClr val="tx1"/>
                </a:solidFill>
              </a:rPr>
              <a:t>Un employeur qui forme un jeune puis le voit partir ressent une frustration légitime.</a:t>
            </a:r>
            <a:endParaRPr lang="en-US" sz="1900" dirty="0"/>
          </a:p>
          <a:p>
            <a:pPr marL="228600" indent="-228600">
              <a:spcAft>
                <a:spcPts val="1400"/>
              </a:spcAft>
              <a:buSzPct val="100000"/>
              <a:buChar char="•"/>
            </a:pPr>
            <a:r>
              <a:rPr lang="en-US" sz="1900" dirty="0">
                <a:solidFill>
                  <a:schemeClr val="tx1"/>
                </a:solidFill>
              </a:rPr>
              <a:t>C'est ainsi que se construit l'image d'une génération moins impliquée.</a:t>
            </a:r>
            <a:endParaRPr lang="en-US" sz="1900" dirty="0"/>
          </a:p>
        </p:txBody>
      </p:sp>
      <p:sp>
        <p:nvSpPr>
          <p:cNvPr id="6" name="Carte source"/>
          <p:cNvSpPr/>
          <p:nvPr/>
        </p:nvSpPr>
        <p:spPr>
          <a:xfrm>
            <a:off x="7772400" y="1783080"/>
            <a:ext cx="3776472" cy="4206240"/>
          </a:xfrm>
          <a:prstGeom prst="roundRect">
            <a:avLst>
              <a:gd name="adj" fmla="val 3632"/>
            </a:avLst>
          </a:prstGeom>
          <a:solidFill>
            <a:schemeClr val="bg2"/>
          </a:solidFill>
          <a:ln w="12700">
            <a:solidFill>
              <a:schemeClr val="bg2"/>
            </a:solidFill>
            <a:prstDash val="solid"/>
          </a:ln>
        </p:spPr>
      </p:sp>
      <p:sp>
        <p:nvSpPr>
          <p:cNvPr id="7" name="Pastille icône"/>
          <p:cNvSpPr/>
          <p:nvPr/>
        </p:nvSpPr>
        <p:spPr>
          <a:xfrm>
            <a:off x="8092440" y="2103120"/>
            <a:ext cx="731520" cy="731520"/>
          </a:xfrm>
          <a:prstGeom prst="ellipse">
            <a:avLst/>
          </a:prstGeom>
          <a:solidFill>
            <a:schemeClr val="accent1"/>
          </a:solidFill>
          <a:ln w="12700">
            <a:solidFill>
              <a:schemeClr val="accent1"/>
            </a:solidFill>
            <a:prstDash val="solid"/>
          </a:ln>
        </p:spPr>
      </p:sp>
      <p:pic>
        <p:nvPicPr>
          <p:cNvPr id="8" name="Icône" descr="preencoded.png">    </p:cNvPr>
          <p:cNvPicPr>
            <a:picLocks noChangeAspect="1"/>
          </p:cNvPicPr>
          <p:nvPr/>
        </p:nvPicPr>
        <p:blipFill>
          <a:blip r:embed="rId1"/>
          <a:stretch>
            <a:fillRect/>
          </a:stretch>
        </p:blipFill>
        <p:spPr>
          <a:xfrm>
            <a:off x="8275320" y="2286000"/>
            <a:ext cx="365760" cy="365760"/>
          </a:xfrm>
          <a:prstGeom prst="rect">
            <a:avLst/>
          </a:prstGeom>
        </p:spPr>
      </p:pic>
      <p:sp>
        <p:nvSpPr>
          <p:cNvPr id="9" name="Text 5"/>
          <p:cNvSpPr txBox="1"/>
          <p:nvPr/>
        </p:nvSpPr>
        <p:spPr>
          <a:xfrm>
            <a:off x="9006840" y="2130552"/>
            <a:ext cx="2313432" cy="274320"/>
          </a:xfrm>
          <a:prstGeom prst="rect">
            <a:avLst/>
          </a:prstGeom>
          <a:noFill/>
          <a:ln/>
        </p:spPr>
        <p:txBody>
          <a:bodyPr wrap="square" lIns="0" tIns="0" rIns="0" bIns="0" rtlCol="0" anchor="ctr"/>
          <a:lstStyle/>
          <a:p>
            <a:pPr indent="0" marL="0">
              <a:buNone/>
            </a:pPr>
            <a:r>
              <a:rPr lang="en-US" sz="1100" b="1" dirty="0">
                <a:solidFill>
                  <a:schemeClr val="accent6"/>
                </a:solidFill>
              </a:rPr>
              <a:t>CE QU'EN DIT</a:t>
            </a:r>
            <a:endParaRPr lang="en-US" sz="1100" dirty="0"/>
          </a:p>
        </p:txBody>
      </p:sp>
      <p:sp>
        <p:nvSpPr>
          <p:cNvPr id="10" name="Text 6"/>
          <p:cNvSpPr txBox="1"/>
          <p:nvPr/>
        </p:nvSpPr>
        <p:spPr>
          <a:xfrm>
            <a:off x="9006840" y="2404872"/>
            <a:ext cx="2313432" cy="41148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Ollivier &amp; Tanguy</a:t>
            </a:r>
            <a:endParaRPr lang="en-US" sz="1700" dirty="0"/>
          </a:p>
        </p:txBody>
      </p:sp>
      <p:sp>
        <p:nvSpPr>
          <p:cNvPr id="11" name="Idée de l&amp;apos;auteur"/>
          <p:cNvSpPr txBox="1"/>
          <p:nvPr/>
        </p:nvSpPr>
        <p:spPr>
          <a:xfrm>
            <a:off x="8092440" y="3108960"/>
            <a:ext cx="3136392" cy="2606040"/>
          </a:xfrm>
          <a:prstGeom prst="rect">
            <a:avLst/>
          </a:prstGeom>
          <a:noFill/>
          <a:ln/>
        </p:spPr>
        <p:txBody>
          <a:bodyPr wrap="square" lIns="0" tIns="0" rIns="0" bIns="0" rtlCol="0" anchor="t"/>
          <a:lstStyle/>
          <a:p>
            <a:pPr indent="0" marL="0">
              <a:buNone/>
            </a:pPr>
            <a:r>
              <a:rPr lang="en-US" sz="1600" i="1" dirty="0">
                <a:solidFill>
                  <a:schemeClr val="tx1"/>
                </a:solidFill>
              </a:rPr>
              <a:t>Le « choc » des DRH : le jeune « zappeur » quitte son poste au bout de quelques mois s'il s'ennuie ou trouve mieux ailleurs. Une forme de consumérisme appliqué à l'emploi.</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 UNE GÉNÉRATION ACCUSÉE · B</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Le refus supposé des contraintes</a:t>
            </a:r>
            <a:endParaRPr lang="en-US" sz="3400" dirty="0"/>
          </a:p>
        </p:txBody>
      </p:sp>
      <p:sp>
        <p:nvSpPr>
          <p:cNvPr id="5" name="Points clés"/>
          <p:cNvSpPr txBox="1"/>
          <p:nvPr/>
        </p:nvSpPr>
        <p:spPr>
          <a:xfrm>
            <a:off x="640080" y="1783080"/>
            <a:ext cx="6675120" cy="420624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On reproche aux jeunes de mal supporter la hiérarchie, les horaires fixes et les ordres sans explication.</a:t>
            </a:r>
            <a:endParaRPr lang="en-US" sz="1900" dirty="0"/>
          </a:p>
          <a:p>
            <a:pPr marL="228600" indent="-228600">
              <a:spcAft>
                <a:spcPts val="1400"/>
              </a:spcAft>
              <a:buSzPct val="100000"/>
              <a:buChar char="•"/>
            </a:pPr>
            <a:r>
              <a:rPr lang="en-US" sz="1900" dirty="0">
                <a:solidFill>
                  <a:schemeClr val="tx1"/>
                </a:solidFill>
              </a:rPr>
              <a:t>Ils veulent comprendre le sens de ce qu'on leur demande, discuter, donner leur avis.</a:t>
            </a:r>
            <a:endParaRPr lang="en-US" sz="1900" dirty="0"/>
          </a:p>
          <a:p>
            <a:pPr marL="228600" indent="-228600">
              <a:spcAft>
                <a:spcPts val="1400"/>
              </a:spcAft>
              <a:buSzPct val="100000"/>
              <a:buChar char="•"/>
            </a:pPr>
            <a:r>
              <a:rPr lang="en-US" sz="1900" dirty="0">
                <a:solidFill>
                  <a:schemeClr val="tx1"/>
                </a:solidFill>
              </a:rPr>
              <a:t>Le manager traditionnel y voit de l'insubordination, voire de l'arrogance.</a:t>
            </a:r>
            <a:endParaRPr lang="en-US" sz="1900" dirty="0"/>
          </a:p>
          <a:p>
            <a:pPr marL="228600" indent="-228600">
              <a:spcAft>
                <a:spcPts val="1400"/>
              </a:spcAft>
              <a:buSzPct val="100000"/>
              <a:buChar char="•"/>
            </a:pPr>
            <a:r>
              <a:rPr lang="en-US" sz="1900" dirty="0">
                <a:solidFill>
                  <a:schemeClr val="tx1"/>
                </a:solidFill>
              </a:rPr>
              <a:t>En réalité, c'est une différence de culture professionnelle, pas un défaut de volonté.</a:t>
            </a:r>
            <a:endParaRPr lang="en-US" sz="1900" dirty="0"/>
          </a:p>
        </p:txBody>
      </p:sp>
      <p:sp>
        <p:nvSpPr>
          <p:cNvPr id="6" name="Carte source"/>
          <p:cNvSpPr/>
          <p:nvPr/>
        </p:nvSpPr>
        <p:spPr>
          <a:xfrm>
            <a:off x="7772400" y="1783080"/>
            <a:ext cx="3776472" cy="4206240"/>
          </a:xfrm>
          <a:prstGeom prst="roundRect">
            <a:avLst>
              <a:gd name="adj" fmla="val 3632"/>
            </a:avLst>
          </a:prstGeom>
          <a:solidFill>
            <a:schemeClr val="bg2"/>
          </a:solidFill>
          <a:ln w="12700">
            <a:solidFill>
              <a:schemeClr val="bg2"/>
            </a:solidFill>
            <a:prstDash val="solid"/>
          </a:ln>
        </p:spPr>
      </p:sp>
      <p:sp>
        <p:nvSpPr>
          <p:cNvPr id="7" name="Pastille icône"/>
          <p:cNvSpPr/>
          <p:nvPr/>
        </p:nvSpPr>
        <p:spPr>
          <a:xfrm>
            <a:off x="8092440" y="2103120"/>
            <a:ext cx="731520" cy="731520"/>
          </a:xfrm>
          <a:prstGeom prst="ellipse">
            <a:avLst/>
          </a:prstGeom>
          <a:solidFill>
            <a:schemeClr val="accent1"/>
          </a:solidFill>
          <a:ln w="12700">
            <a:solidFill>
              <a:schemeClr val="accent1"/>
            </a:solidFill>
            <a:prstDash val="solid"/>
          </a:ln>
        </p:spPr>
      </p:sp>
      <p:pic>
        <p:nvPicPr>
          <p:cNvPr id="8" name="Icône" descr="preencoded.png">    </p:cNvPr>
          <p:cNvPicPr>
            <a:picLocks noChangeAspect="1"/>
          </p:cNvPicPr>
          <p:nvPr/>
        </p:nvPicPr>
        <p:blipFill>
          <a:blip r:embed="rId1"/>
          <a:stretch>
            <a:fillRect/>
          </a:stretch>
        </p:blipFill>
        <p:spPr>
          <a:xfrm>
            <a:off x="8275320" y="2286000"/>
            <a:ext cx="365760" cy="365760"/>
          </a:xfrm>
          <a:prstGeom prst="rect">
            <a:avLst/>
          </a:prstGeom>
        </p:spPr>
      </p:pic>
      <p:sp>
        <p:nvSpPr>
          <p:cNvPr id="9" name="Text 5"/>
          <p:cNvSpPr txBox="1"/>
          <p:nvPr/>
        </p:nvSpPr>
        <p:spPr>
          <a:xfrm>
            <a:off x="9006840" y="2130552"/>
            <a:ext cx="2313432" cy="274320"/>
          </a:xfrm>
          <a:prstGeom prst="rect">
            <a:avLst/>
          </a:prstGeom>
          <a:noFill/>
          <a:ln/>
        </p:spPr>
        <p:txBody>
          <a:bodyPr wrap="square" lIns="0" tIns="0" rIns="0" bIns="0" rtlCol="0" anchor="ctr"/>
          <a:lstStyle/>
          <a:p>
            <a:pPr indent="0" marL="0">
              <a:buNone/>
            </a:pPr>
            <a:r>
              <a:rPr lang="en-US" sz="1100" b="1" dirty="0">
                <a:solidFill>
                  <a:schemeClr val="accent6"/>
                </a:solidFill>
              </a:rPr>
              <a:t>CE QU'EN DIT</a:t>
            </a:r>
            <a:endParaRPr lang="en-US" sz="1100" dirty="0"/>
          </a:p>
        </p:txBody>
      </p:sp>
      <p:sp>
        <p:nvSpPr>
          <p:cNvPr id="10" name="Text 6"/>
          <p:cNvSpPr txBox="1"/>
          <p:nvPr/>
        </p:nvSpPr>
        <p:spPr>
          <a:xfrm>
            <a:off x="9006840" y="2404872"/>
            <a:ext cx="2313432" cy="41148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Elodie Gentina</a:t>
            </a:r>
            <a:endParaRPr lang="en-US" sz="1700" dirty="0"/>
          </a:p>
        </p:txBody>
      </p:sp>
      <p:sp>
        <p:nvSpPr>
          <p:cNvPr id="11" name="Idée de l&amp;apos;auteur"/>
          <p:cNvSpPr txBox="1"/>
          <p:nvPr/>
        </p:nvSpPr>
        <p:spPr>
          <a:xfrm>
            <a:off x="8092440" y="3108960"/>
            <a:ext cx="3136392" cy="2606040"/>
          </a:xfrm>
          <a:prstGeom prst="rect">
            <a:avLst/>
          </a:prstGeom>
          <a:noFill/>
          <a:ln/>
        </p:spPr>
        <p:txBody>
          <a:bodyPr wrap="square" lIns="0" tIns="0" rIns="0" bIns="0" rtlCol="0" anchor="t"/>
          <a:lstStyle/>
          <a:p>
            <a:pPr indent="0" marL="0">
              <a:buNone/>
            </a:pPr>
            <a:r>
              <a:rPr lang="en-US" sz="1600" i="1" dirty="0">
                <a:solidFill>
                  <a:schemeClr val="tx1"/>
                </a:solidFill>
              </a:rPr>
              <a:t>Une génération du réseau, habituée à une information horizontale : le « top-down » passe mal. Ce n'est pas une rébellion, mais une incompréhension mutuelle des codes.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 UNE GÉNÉRATION ACCUSÉE · C</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La flexibilité, lue comme un manque d'investissement</a:t>
            </a:r>
            <a:endParaRPr lang="en-US" sz="3400" dirty="0"/>
          </a:p>
        </p:txBody>
      </p:sp>
      <p:sp>
        <p:nvSpPr>
          <p:cNvPr id="5" name="Points clés"/>
          <p:cNvSpPr txBox="1"/>
          <p:nvPr/>
        </p:nvSpPr>
        <p:spPr>
          <a:xfrm>
            <a:off x="640080" y="1783080"/>
            <a:ext cx="6675120" cy="420624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Les jeunes recherchent le télétravail, des horaires aménagés et la liberté de changer de poste ou de métier.</a:t>
            </a:r>
            <a:endParaRPr lang="en-US" sz="1900" dirty="0"/>
          </a:p>
          <a:p>
            <a:pPr marL="228600" indent="-228600">
              <a:spcAft>
                <a:spcPts val="1400"/>
              </a:spcAft>
              <a:buSzPct val="100000"/>
              <a:buChar char="•"/>
            </a:pPr>
            <a:r>
              <a:rPr lang="en-US" sz="1900" dirty="0">
                <a:solidFill>
                  <a:schemeClr val="tx1"/>
                </a:solidFill>
              </a:rPr>
              <a:t>Ils sont attirés par l'entrepreneuriat et le freelancing.</a:t>
            </a:r>
            <a:endParaRPr lang="en-US" sz="1900" dirty="0"/>
          </a:p>
          <a:p>
            <a:pPr marL="228600" indent="-228600">
              <a:spcAft>
                <a:spcPts val="1400"/>
              </a:spcAft>
              <a:buSzPct val="100000"/>
              <a:buChar char="•"/>
            </a:pPr>
            <a:r>
              <a:rPr lang="en-US" sz="1900" dirty="0">
                <a:solidFill>
                  <a:schemeClr val="tx1"/>
                </a:solidFill>
              </a:rPr>
              <a:t>Mais on traduit : télétravail = « en faire moins », changer d'employeur = « instable », refuser les heures sup = « pas motivé ».</a:t>
            </a:r>
            <a:endParaRPr lang="en-US" sz="1900" dirty="0"/>
          </a:p>
          <a:p>
            <a:pPr marL="228600" indent="-228600">
              <a:spcAft>
                <a:spcPts val="1400"/>
              </a:spcAft>
              <a:buSzPct val="100000"/>
              <a:buChar char="•"/>
            </a:pPr>
            <a:r>
              <a:rPr lang="en-US" sz="1900" dirty="0">
                <a:solidFill>
                  <a:schemeClr val="tx1"/>
                </a:solidFill>
              </a:rPr>
              <a:t>Le malentendu vient d'une grille de lecture managériale qui n'est plus adaptée.</a:t>
            </a:r>
            <a:endParaRPr lang="en-US" sz="1900" dirty="0"/>
          </a:p>
        </p:txBody>
      </p:sp>
      <p:sp>
        <p:nvSpPr>
          <p:cNvPr id="6" name="Carte source"/>
          <p:cNvSpPr/>
          <p:nvPr/>
        </p:nvSpPr>
        <p:spPr>
          <a:xfrm>
            <a:off x="7772400" y="1783080"/>
            <a:ext cx="3776472" cy="4206240"/>
          </a:xfrm>
          <a:prstGeom prst="roundRect">
            <a:avLst>
              <a:gd name="adj" fmla="val 3632"/>
            </a:avLst>
          </a:prstGeom>
          <a:solidFill>
            <a:schemeClr val="bg2"/>
          </a:solidFill>
          <a:ln w="12700">
            <a:solidFill>
              <a:schemeClr val="bg2"/>
            </a:solidFill>
            <a:prstDash val="solid"/>
          </a:ln>
        </p:spPr>
      </p:sp>
      <p:sp>
        <p:nvSpPr>
          <p:cNvPr id="7" name="Pastille icône"/>
          <p:cNvSpPr/>
          <p:nvPr/>
        </p:nvSpPr>
        <p:spPr>
          <a:xfrm>
            <a:off x="8092440" y="2103120"/>
            <a:ext cx="731520" cy="731520"/>
          </a:xfrm>
          <a:prstGeom prst="ellipse">
            <a:avLst/>
          </a:prstGeom>
          <a:solidFill>
            <a:schemeClr val="accent1"/>
          </a:solidFill>
          <a:ln w="12700">
            <a:solidFill>
              <a:schemeClr val="accent1"/>
            </a:solidFill>
            <a:prstDash val="solid"/>
          </a:ln>
        </p:spPr>
      </p:sp>
      <p:pic>
        <p:nvPicPr>
          <p:cNvPr id="8" name="Icône" descr="preencoded.png">    </p:cNvPr>
          <p:cNvPicPr>
            <a:picLocks noChangeAspect="1"/>
          </p:cNvPicPr>
          <p:nvPr/>
        </p:nvPicPr>
        <p:blipFill>
          <a:blip r:embed="rId1"/>
          <a:stretch>
            <a:fillRect/>
          </a:stretch>
        </p:blipFill>
        <p:spPr>
          <a:xfrm>
            <a:off x="8275320" y="2286000"/>
            <a:ext cx="365760" cy="365760"/>
          </a:xfrm>
          <a:prstGeom prst="rect">
            <a:avLst/>
          </a:prstGeom>
        </p:spPr>
      </p:pic>
      <p:sp>
        <p:nvSpPr>
          <p:cNvPr id="9" name="Text 5"/>
          <p:cNvSpPr txBox="1"/>
          <p:nvPr/>
        </p:nvSpPr>
        <p:spPr>
          <a:xfrm>
            <a:off x="9006840" y="2130552"/>
            <a:ext cx="2313432" cy="274320"/>
          </a:xfrm>
          <a:prstGeom prst="rect">
            <a:avLst/>
          </a:prstGeom>
          <a:noFill/>
          <a:ln/>
        </p:spPr>
        <p:txBody>
          <a:bodyPr wrap="square" lIns="0" tIns="0" rIns="0" bIns="0" rtlCol="0" anchor="ctr"/>
          <a:lstStyle/>
          <a:p>
            <a:pPr indent="0" marL="0">
              <a:buNone/>
            </a:pPr>
            <a:r>
              <a:rPr lang="en-US" sz="1100" b="1" dirty="0">
                <a:solidFill>
                  <a:schemeClr val="accent6"/>
                </a:solidFill>
              </a:rPr>
              <a:t>CE QU'EN DIT</a:t>
            </a:r>
            <a:endParaRPr lang="en-US" sz="1100" dirty="0"/>
          </a:p>
        </p:txBody>
      </p:sp>
      <p:sp>
        <p:nvSpPr>
          <p:cNvPr id="10" name="Text 6"/>
          <p:cNvSpPr txBox="1"/>
          <p:nvPr/>
        </p:nvSpPr>
        <p:spPr>
          <a:xfrm>
            <a:off x="9006840" y="2404872"/>
            <a:ext cx="2313432" cy="41148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Georges Lewi</a:t>
            </a:r>
            <a:endParaRPr lang="en-US" sz="1700" dirty="0"/>
          </a:p>
        </p:txBody>
      </p:sp>
      <p:sp>
        <p:nvSpPr>
          <p:cNvPr id="11" name="Idée de l&amp;apos;auteur"/>
          <p:cNvSpPr txBox="1"/>
          <p:nvPr/>
        </p:nvSpPr>
        <p:spPr>
          <a:xfrm>
            <a:off x="8092440" y="3108960"/>
            <a:ext cx="3136392" cy="2606040"/>
          </a:xfrm>
          <a:prstGeom prst="rect">
            <a:avLst/>
          </a:prstGeom>
          <a:noFill/>
          <a:ln/>
        </p:spPr>
        <p:txBody>
          <a:bodyPr wrap="square" lIns="0" tIns="0" rIns="0" bIns="0" rtlCol="0" anchor="t"/>
          <a:lstStyle/>
          <a:p>
            <a:pPr indent="0" marL="0">
              <a:buNone/>
            </a:pPr>
            <a:r>
              <a:rPr lang="en-US" sz="1600" i="1" dirty="0">
                <a:solidFill>
                  <a:schemeClr val="tx1"/>
                </a:solidFill>
              </a:rPr>
              <a:t>Une véritable « soif de liberté » : télétravail, porosité entre vie pro et vie perso, envie de changer de projet ou de métier.</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nchor="ctr"/>
          <a:lstStyle/>
          <a:p>
            <a:pPr algn="l" indent="0" marL="0">
              <a:buNone/>
            </a:pPr>
            <a:r>
              <a:rPr lang="en-US" sz="4400" b="1" dirty="0">
                <a:solidFill>
                  <a:schemeClr val="bg1"/>
                </a:solidFill>
              </a:rPr>
              <a:t>Des ressentis réels… </a:t>
            </a:r>
            <a:pPr algn="l" indent="0" marL="0">
              <a:buNone/>
            </a:pPr>
            <a:r>
              <a:rPr lang="en-US" sz="4400" b="1" dirty="0">
                <a:solidFill>
                  <a:schemeClr val="accent1"/>
                </a:solidFill>
              </a:rPr>
              <a:t>mais un ressenti n'est pas une preuve.</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nchor="t"/>
          <a:lstStyle/>
          <a:p>
            <a:pPr indent="0" marL="0">
              <a:buNone/>
            </a:pPr>
            <a:r>
              <a:rPr lang="en-US" sz="2000" dirty="0">
                <a:solidFill>
                  <a:schemeClr val="bg2"/>
                </a:solidFill>
              </a:rPr>
              <a:t>Les faits confirment-ils cette impression ?</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II. LES RÉALITÉS ÉCONOMIQUES · A</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Des jeunes qui travaillent plus tôt</a:t>
            </a:r>
            <a:endParaRPr lang="en-US" sz="3400" dirty="0"/>
          </a:p>
        </p:txBody>
      </p:sp>
      <p:sp>
        <p:nvSpPr>
          <p:cNvPr id="5" name="Points clés"/>
          <p:cNvSpPr txBox="1"/>
          <p:nvPr/>
        </p:nvSpPr>
        <p:spPr>
          <a:xfrm>
            <a:off x="640080" y="1783080"/>
            <a:ext cx="6675120" cy="420624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L'alternance explose et touche désormais le supérieur : écoles de commerce, masters, écoles d'ingénieurs.</a:t>
            </a:r>
            <a:endParaRPr lang="en-US" sz="1900" dirty="0"/>
          </a:p>
          <a:p>
            <a:pPr marL="228600" indent="-228600">
              <a:spcAft>
                <a:spcPts val="1400"/>
              </a:spcAft>
              <a:buSzPct val="100000"/>
              <a:buChar char="•"/>
            </a:pPr>
            <a:r>
              <a:rPr lang="en-US" sz="1900" dirty="0">
                <a:solidFill>
                  <a:schemeClr val="tx1"/>
                </a:solidFill>
              </a:rPr>
              <a:t>Stages obligatoires et jobs étudiants : serveur, caissier, livreur, animateur.</a:t>
            </a:r>
            <a:endParaRPr lang="en-US" sz="1900" dirty="0"/>
          </a:p>
          <a:p>
            <a:pPr marL="228600" indent="-228600">
              <a:spcAft>
                <a:spcPts val="1400"/>
              </a:spcAft>
              <a:buSzPct val="100000"/>
              <a:buChar char="•"/>
            </a:pPr>
            <a:r>
              <a:rPr lang="en-US" sz="1900" dirty="0">
                <a:solidFill>
                  <a:schemeClr val="tx1"/>
                </a:solidFill>
              </a:rPr>
              <a:t>Beaucoup cumulent études et travail, souvent par nécessité financière.</a:t>
            </a:r>
            <a:endParaRPr lang="en-US" sz="1900" dirty="0"/>
          </a:p>
          <a:p>
            <a:pPr marL="228600" indent="-228600">
              <a:spcAft>
                <a:spcPts val="1400"/>
              </a:spcAft>
              <a:buSzPct val="100000"/>
              <a:buChar char="•"/>
            </a:pPr>
            <a:r>
              <a:rPr lang="en-US" sz="1900" dirty="0">
                <a:solidFill>
                  <a:schemeClr val="tx1"/>
                </a:solidFill>
              </a:rPr>
              <a:t>Mon cas : BUT GEA avec stages, recherche d'alternance et double licence comptabilité, contrôle, audit.</a:t>
            </a:r>
            <a:endParaRPr lang="en-US" sz="1900" dirty="0"/>
          </a:p>
        </p:txBody>
      </p:sp>
      <p:sp>
        <p:nvSpPr>
          <p:cNvPr id="6" name="Chiffre clé"/>
          <p:cNvSpPr/>
          <p:nvPr/>
        </p:nvSpPr>
        <p:spPr>
          <a:xfrm>
            <a:off x="7772400" y="1783080"/>
            <a:ext cx="3776472" cy="1920240"/>
          </a:xfrm>
          <a:prstGeom prst="roundRect">
            <a:avLst>
              <a:gd name="adj" fmla="val 7143"/>
            </a:avLst>
          </a:prstGeom>
          <a:solidFill>
            <a:schemeClr val="tx2"/>
          </a:solidFill>
          <a:ln w="12700">
            <a:solidFill>
              <a:schemeClr val="tx2"/>
            </a:solidFill>
            <a:prstDash val="solid"/>
          </a:ln>
        </p:spPr>
      </p:sp>
      <p:sp>
        <p:nvSpPr>
          <p:cNvPr id="7" name="Text 4"/>
          <p:cNvSpPr txBox="1"/>
          <p:nvPr/>
        </p:nvSpPr>
        <p:spPr>
          <a:xfrm>
            <a:off x="8046720" y="1920240"/>
            <a:ext cx="3291840" cy="10058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+ 1 million</a:t>
            </a:r>
            <a:endParaRPr lang="en-US" sz="4400" dirty="0"/>
          </a:p>
        </p:txBody>
      </p:sp>
      <p:sp>
        <p:nvSpPr>
          <p:cNvPr id="8" name="Text 5"/>
          <p:cNvSpPr txBox="1"/>
          <p:nvPr/>
        </p:nvSpPr>
        <p:spPr>
          <a:xfrm>
            <a:off x="8046720" y="2926080"/>
            <a:ext cx="3291840" cy="548640"/>
          </a:xfrm>
          <a:prstGeom prst="rect">
            <a:avLst/>
          </a:prstGeom>
          <a:noFill/>
          <a:ln/>
        </p:spPr>
        <p:txBody>
          <a:bodyPr wrap="square" lIns="0" tIns="0" rIns="0" bIns="0" rtlCol="0" anchor="ctr"/>
          <a:lstStyle/>
          <a:p>
            <a:pPr indent="0" marL="0">
              <a:buNone/>
            </a:pPr>
            <a:r>
              <a:rPr lang="en-US" sz="1600" dirty="0">
                <a:solidFill>
                  <a:schemeClr val="bg1"/>
                </a:solidFill>
              </a:rPr>
              <a:t>d'apprentis en France : un record</a:t>
            </a:r>
            <a:endParaRPr lang="en-US" sz="1600" dirty="0"/>
          </a:p>
        </p:txBody>
      </p:sp>
      <p:sp>
        <p:nvSpPr>
          <p:cNvPr id="9" name="Carte source"/>
          <p:cNvSpPr/>
          <p:nvPr/>
        </p:nvSpPr>
        <p:spPr>
          <a:xfrm>
            <a:off x="7772400" y="3931920"/>
            <a:ext cx="3776472" cy="2103120"/>
          </a:xfrm>
          <a:prstGeom prst="roundRect">
            <a:avLst>
              <a:gd name="adj" fmla="val 6522"/>
            </a:avLst>
          </a:prstGeom>
          <a:solidFill>
            <a:schemeClr val="bg2"/>
          </a:solidFill>
          <a:ln w="12700">
            <a:solidFill>
              <a:schemeClr val="bg2"/>
            </a:solidFill>
            <a:prstDash val="solid"/>
          </a:ln>
        </p:spPr>
      </p:sp>
      <p:sp>
        <p:nvSpPr>
          <p:cNvPr id="10" name="Pastille icône"/>
          <p:cNvSpPr/>
          <p:nvPr/>
        </p:nvSpPr>
        <p:spPr>
          <a:xfrm>
            <a:off x="8092440" y="4251960"/>
            <a:ext cx="731520" cy="731520"/>
          </a:xfrm>
          <a:prstGeom prst="ellipse">
            <a:avLst/>
          </a:prstGeom>
          <a:solidFill>
            <a:schemeClr val="accent1"/>
          </a:solidFill>
          <a:ln w="12700">
            <a:solidFill>
              <a:schemeClr val="accent1"/>
            </a:solidFill>
            <a:prstDash val="solid"/>
          </a:ln>
        </p:spPr>
      </p:sp>
      <p:pic>
        <p:nvPicPr>
          <p:cNvPr id="11" name="Icône" descr="preencoded.png">    </p:cNvPr>
          <p:cNvPicPr>
            <a:picLocks noChangeAspect="1"/>
          </p:cNvPicPr>
          <p:nvPr/>
        </p:nvPicPr>
        <p:blipFill>
          <a:blip r:embed="rId1"/>
          <a:stretch>
            <a:fillRect/>
          </a:stretch>
        </p:blipFill>
        <p:spPr>
          <a:xfrm>
            <a:off x="8275320" y="4434840"/>
            <a:ext cx="365760" cy="365760"/>
          </a:xfrm>
          <a:prstGeom prst="rect">
            <a:avLst/>
          </a:prstGeom>
        </p:spPr>
      </p:pic>
      <p:sp>
        <p:nvSpPr>
          <p:cNvPr id="12" name="Text 8"/>
          <p:cNvSpPr txBox="1"/>
          <p:nvPr/>
        </p:nvSpPr>
        <p:spPr>
          <a:xfrm>
            <a:off x="9006840" y="4279392"/>
            <a:ext cx="2313432" cy="274320"/>
          </a:xfrm>
          <a:prstGeom prst="rect">
            <a:avLst/>
          </a:prstGeom>
          <a:noFill/>
          <a:ln/>
        </p:spPr>
        <p:txBody>
          <a:bodyPr wrap="square" lIns="0" tIns="0" rIns="0" bIns="0" rtlCol="0" anchor="ctr"/>
          <a:lstStyle/>
          <a:p>
            <a:pPr indent="0" marL="0">
              <a:buNone/>
            </a:pPr>
            <a:r>
              <a:rPr lang="en-US" sz="1100" b="1" dirty="0">
                <a:solidFill>
                  <a:schemeClr val="accent6"/>
                </a:solidFill>
              </a:rPr>
              <a:t>CE QU'EN DIT</a:t>
            </a:r>
            <a:endParaRPr lang="en-US" sz="1100" dirty="0"/>
          </a:p>
        </p:txBody>
      </p:sp>
      <p:sp>
        <p:nvSpPr>
          <p:cNvPr id="13" name="Text 9"/>
          <p:cNvSpPr txBox="1"/>
          <p:nvPr/>
        </p:nvSpPr>
        <p:spPr>
          <a:xfrm>
            <a:off x="9006840" y="4553712"/>
            <a:ext cx="2313432" cy="41148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Georges Lewi</a:t>
            </a:r>
            <a:endParaRPr lang="en-US" sz="1700" dirty="0"/>
          </a:p>
        </p:txBody>
      </p:sp>
      <p:sp>
        <p:nvSpPr>
          <p:cNvPr id="14" name="Idée de l&amp;apos;auteur"/>
          <p:cNvSpPr txBox="1"/>
          <p:nvPr/>
        </p:nvSpPr>
        <p:spPr>
          <a:xfrm>
            <a:off x="8092440" y="5257800"/>
            <a:ext cx="3136392" cy="502920"/>
          </a:xfrm>
          <a:prstGeom prst="rect">
            <a:avLst/>
          </a:prstGeom>
          <a:noFill/>
          <a:ln/>
        </p:spPr>
        <p:txBody>
          <a:bodyPr wrap="square" lIns="0" tIns="0" rIns="0" bIns="0" rtlCol="0" anchor="t"/>
          <a:lstStyle/>
          <a:p>
            <a:pPr indent="0" marL="0">
              <a:buNone/>
            </a:pPr>
            <a:r>
              <a:rPr lang="en-US" sz="1600" i="1" dirty="0">
                <a:solidFill>
                  <a:schemeClr val="tx1"/>
                </a:solidFill>
              </a:rPr>
              <a:t>Une génération pragmatique : ce contact précoce avec le travail nourrit son exigence, pas sa paresse.</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II. LES RÉALITÉS ÉCONOMIQUES · B</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La précarité et les difficultés économiques</a:t>
            </a:r>
            <a:endParaRPr lang="en-US" sz="3400" dirty="0"/>
          </a:p>
        </p:txBody>
      </p:sp>
      <p:sp>
        <p:nvSpPr>
          <p:cNvPr id="5" name="Points clés"/>
          <p:cNvSpPr txBox="1"/>
          <p:nvPr/>
        </p:nvSpPr>
        <p:spPr>
          <a:xfrm>
            <a:off x="640080" y="1783080"/>
            <a:ext cx="6675120" cy="420624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L'inflation a fait grimper alimentation, énergie et transports, alors que les revenus des jeunes restent modestes.</a:t>
            </a:r>
            <a:endParaRPr lang="en-US" sz="1900" dirty="0"/>
          </a:p>
          <a:p>
            <a:pPr marL="228600" indent="-228600">
              <a:spcAft>
                <a:spcPts val="1400"/>
              </a:spcAft>
              <a:buSzPct val="100000"/>
              <a:buChar char="•"/>
            </a:pPr>
            <a:r>
              <a:rPr lang="en-US" sz="1900" dirty="0">
                <a:solidFill>
                  <a:schemeClr val="tx1"/>
                </a:solidFill>
              </a:rPr>
              <a:t>Le logement est devenu un obstacle majeur : loyers élevés, garants exigés, propriété hors de portée.</a:t>
            </a:r>
            <a:endParaRPr lang="en-US" sz="1900" dirty="0"/>
          </a:p>
          <a:p>
            <a:pPr marL="228600" indent="-228600">
              <a:spcAft>
                <a:spcPts val="1400"/>
              </a:spcAft>
              <a:buSzPct val="100000"/>
              <a:buChar char="•"/>
            </a:pPr>
            <a:r>
              <a:rPr lang="en-US" sz="1900" dirty="0">
                <a:solidFill>
                  <a:schemeClr val="tx1"/>
                </a:solidFill>
              </a:rPr>
              <a:t>L'entrée dans l'emploi passe par des CDD, de l'intérim, des stages enchaînés.</a:t>
            </a:r>
            <a:endParaRPr lang="en-US" sz="1900" dirty="0"/>
          </a:p>
          <a:p>
            <a:pPr marL="228600" indent="-228600">
              <a:spcAft>
                <a:spcPts val="1400"/>
              </a:spcAft>
              <a:buSzPct val="100000"/>
              <a:buChar char="•"/>
            </a:pPr>
            <a:r>
              <a:rPr lang="en-US" sz="1900" dirty="0">
                <a:solidFill>
                  <a:schemeClr val="tx1"/>
                </a:solidFill>
              </a:rPr>
              <a:t>Comment demander de la loyauté à quelqu'un à qui l'on n'offre que de l'instabilité ?</a:t>
            </a:r>
            <a:endParaRPr lang="en-US" sz="1900" dirty="0"/>
          </a:p>
        </p:txBody>
      </p:sp>
      <p:sp>
        <p:nvSpPr>
          <p:cNvPr id="6" name="Carte source"/>
          <p:cNvSpPr/>
          <p:nvPr/>
        </p:nvSpPr>
        <p:spPr>
          <a:xfrm>
            <a:off x="7772400" y="1783080"/>
            <a:ext cx="3776472" cy="4206240"/>
          </a:xfrm>
          <a:prstGeom prst="roundRect">
            <a:avLst>
              <a:gd name="adj" fmla="val 3632"/>
            </a:avLst>
          </a:prstGeom>
          <a:solidFill>
            <a:schemeClr val="bg2"/>
          </a:solidFill>
          <a:ln w="12700">
            <a:solidFill>
              <a:schemeClr val="bg2"/>
            </a:solidFill>
            <a:prstDash val="solid"/>
          </a:ln>
        </p:spPr>
      </p:sp>
      <p:sp>
        <p:nvSpPr>
          <p:cNvPr id="7" name="Pastille icône"/>
          <p:cNvSpPr/>
          <p:nvPr/>
        </p:nvSpPr>
        <p:spPr>
          <a:xfrm>
            <a:off x="8092440" y="2103120"/>
            <a:ext cx="731520" cy="731520"/>
          </a:xfrm>
          <a:prstGeom prst="ellipse">
            <a:avLst/>
          </a:prstGeom>
          <a:solidFill>
            <a:schemeClr val="accent1"/>
          </a:solidFill>
          <a:ln w="12700">
            <a:solidFill>
              <a:schemeClr val="accent1"/>
            </a:solidFill>
            <a:prstDash val="solid"/>
          </a:ln>
        </p:spPr>
      </p:sp>
      <p:pic>
        <p:nvPicPr>
          <p:cNvPr id="8" name="Icône" descr="preencoded.png">    </p:cNvPr>
          <p:cNvPicPr>
            <a:picLocks noChangeAspect="1"/>
          </p:cNvPicPr>
          <p:nvPr/>
        </p:nvPicPr>
        <p:blipFill>
          <a:blip r:embed="rId1"/>
          <a:stretch>
            <a:fillRect/>
          </a:stretch>
        </p:blipFill>
        <p:spPr>
          <a:xfrm>
            <a:off x="8275320" y="2286000"/>
            <a:ext cx="365760" cy="365760"/>
          </a:xfrm>
          <a:prstGeom prst="rect">
            <a:avLst/>
          </a:prstGeom>
        </p:spPr>
      </p:pic>
      <p:sp>
        <p:nvSpPr>
          <p:cNvPr id="9" name="Text 5"/>
          <p:cNvSpPr txBox="1"/>
          <p:nvPr/>
        </p:nvSpPr>
        <p:spPr>
          <a:xfrm>
            <a:off x="9006840" y="2130552"/>
            <a:ext cx="2313432" cy="274320"/>
          </a:xfrm>
          <a:prstGeom prst="rect">
            <a:avLst/>
          </a:prstGeom>
          <a:noFill/>
          <a:ln/>
        </p:spPr>
        <p:txBody>
          <a:bodyPr wrap="square" lIns="0" tIns="0" rIns="0" bIns="0" rtlCol="0" anchor="ctr"/>
          <a:lstStyle/>
          <a:p>
            <a:pPr indent="0" marL="0">
              <a:buNone/>
            </a:pPr>
            <a:r>
              <a:rPr lang="en-US" sz="1100" b="1" dirty="0">
                <a:solidFill>
                  <a:schemeClr val="accent6"/>
                </a:solidFill>
              </a:rPr>
              <a:t>CE QU'EN DIT</a:t>
            </a:r>
            <a:endParaRPr lang="en-US" sz="1100" dirty="0"/>
          </a:p>
        </p:txBody>
      </p:sp>
      <p:sp>
        <p:nvSpPr>
          <p:cNvPr id="10" name="Text 6"/>
          <p:cNvSpPr txBox="1"/>
          <p:nvPr/>
        </p:nvSpPr>
        <p:spPr>
          <a:xfrm>
            <a:off x="9006840" y="2404872"/>
            <a:ext cx="2313432" cy="41148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Ollivier &amp; Tanguy</a:t>
            </a:r>
            <a:endParaRPr lang="en-US" sz="1700" dirty="0"/>
          </a:p>
        </p:txBody>
      </p:sp>
      <p:sp>
        <p:nvSpPr>
          <p:cNvPr id="11" name="Idée de l&amp;apos;auteur"/>
          <p:cNvSpPr txBox="1"/>
          <p:nvPr/>
        </p:nvSpPr>
        <p:spPr>
          <a:xfrm>
            <a:off x="8092440" y="3108960"/>
            <a:ext cx="3136392" cy="2606040"/>
          </a:xfrm>
          <a:prstGeom prst="rect">
            <a:avLst/>
          </a:prstGeom>
          <a:noFill/>
          <a:ln/>
        </p:spPr>
        <p:txBody>
          <a:bodyPr wrap="square" lIns="0" tIns="0" rIns="0" bIns="0" rtlCol="0" anchor="t"/>
          <a:lstStyle/>
          <a:p>
            <a:pPr indent="0" marL="0">
              <a:buNone/>
            </a:pPr>
            <a:r>
              <a:rPr lang="en-US" sz="1600" i="1" dirty="0">
                <a:solidFill>
                  <a:schemeClr val="tx1"/>
                </a:solidFill>
              </a:rPr>
              <a:t>L'entreprise doit intégrer la fragilité économique des jeunes : CDD, « uberisation », logement qui explose. La fidélité se construit des deux côtés.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II. LES RÉALITÉS ÉCONOMIQUES · C</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Une incertitude croissante face à l'avenir</a:t>
            </a:r>
            <a:endParaRPr lang="en-US" sz="3400" dirty="0"/>
          </a:p>
        </p:txBody>
      </p:sp>
      <p:sp>
        <p:nvSpPr>
          <p:cNvPr id="5" name="Chômage"/>
          <p:cNvSpPr/>
          <p:nvPr/>
        </p:nvSpPr>
        <p:spPr>
          <a:xfrm>
            <a:off x="640080" y="1783080"/>
            <a:ext cx="5321808" cy="1371600"/>
          </a:xfrm>
          <a:prstGeom prst="roundRect">
            <a:avLst>
              <a:gd name="adj" fmla="val 10000"/>
            </a:avLst>
          </a:prstGeom>
          <a:solidFill>
            <a:schemeClr val="bg2"/>
          </a:solidFill>
          <a:ln w="12700">
            <a:solidFill>
              <a:schemeClr val="bg2"/>
            </a:solidFill>
            <a:prstDash val="solid"/>
          </a:ln>
        </p:spPr>
      </p:sp>
      <p:sp>
        <p:nvSpPr>
          <p:cNvPr id="6" name="Shape 3"/>
          <p:cNvSpPr/>
          <p:nvPr/>
        </p:nvSpPr>
        <p:spPr>
          <a:xfrm>
            <a:off x="914400" y="2103120"/>
            <a:ext cx="731520" cy="731520"/>
          </a:xfrm>
          <a:prstGeom prst="ellipse">
            <a:avLst/>
          </a:prstGeom>
          <a:solidFill>
            <a:schemeClr val="accent1"/>
          </a:solidFill>
          <a:ln w="12700">
            <a:solidFill>
              <a:schemeClr val="accent1"/>
            </a:solidFill>
            <a:prstDash val="solid"/>
          </a:ln>
        </p:spPr>
      </p:sp>
      <p:pic>
        <p:nvPicPr>
          <p:cNvPr id="7" name="Image 0" descr="preencoded.png">    </p:cNvPr>
          <p:cNvPicPr>
            <a:picLocks noChangeAspect="1"/>
          </p:cNvPicPr>
          <p:nvPr/>
        </p:nvPicPr>
        <p:blipFill>
          <a:blip r:embed="rId1"/>
          <a:stretch>
            <a:fillRect/>
          </a:stretch>
        </p:blipFill>
        <p:spPr>
          <a:xfrm>
            <a:off x="1097280" y="2286000"/>
            <a:ext cx="365760" cy="365760"/>
          </a:xfrm>
          <a:prstGeom prst="rect">
            <a:avLst/>
          </a:prstGeom>
        </p:spPr>
      </p:pic>
      <p:sp>
        <p:nvSpPr>
          <p:cNvPr id="8" name="Text 4"/>
          <p:cNvSpPr txBox="1"/>
          <p:nvPr/>
        </p:nvSpPr>
        <p:spPr>
          <a:xfrm>
            <a:off x="1874520" y="1965960"/>
            <a:ext cx="3858768" cy="411480"/>
          </a:xfrm>
          <a:prstGeom prst="rect">
            <a:avLst/>
          </a:prstGeom>
          <a:noFill/>
          <a:ln/>
        </p:spPr>
        <p:txBody>
          <a:bodyPr wrap="square" lIns="0" tIns="0" rIns="0" bIns="0" rtlCol="0" anchor="ctr"/>
          <a:lstStyle/>
          <a:p>
            <a:pPr indent="0" marL="0">
              <a:buNone/>
            </a:pPr>
            <a:r>
              <a:rPr lang="en-US" sz="1800" b="1" dirty="0">
                <a:solidFill>
                  <a:schemeClr val="tx2"/>
                </a:solidFill>
              </a:rPr>
              <a:t>Chômage</a:t>
            </a:r>
            <a:endParaRPr lang="en-US" sz="1800" dirty="0"/>
          </a:p>
        </p:txBody>
      </p:sp>
      <p:sp>
        <p:nvSpPr>
          <p:cNvPr id="9" name="Text 5"/>
          <p:cNvSpPr txBox="1"/>
          <p:nvPr/>
        </p:nvSpPr>
        <p:spPr>
          <a:xfrm>
            <a:off x="1874520" y="2377440"/>
            <a:ext cx="3858768" cy="685800"/>
          </a:xfrm>
          <a:prstGeom prst="rect">
            <a:avLst/>
          </a:prstGeom>
          <a:noFill/>
          <a:ln/>
        </p:spPr>
        <p:txBody>
          <a:bodyPr wrap="square" lIns="0" tIns="0" rIns="0" bIns="0" rtlCol="0" anchor="t"/>
          <a:lstStyle/>
          <a:p>
            <a:pPr indent="0" marL="0">
              <a:buNone/>
            </a:pPr>
            <a:r>
              <a:rPr lang="en-US" sz="1500" dirty="0">
                <a:solidFill>
                  <a:schemeClr val="tx1"/>
                </a:solidFill>
              </a:rPr>
              <a:t>Un taux de chômage des jeunes souvent plus du double de la moyenne.</a:t>
            </a:r>
            <a:endParaRPr lang="en-US" sz="1500" dirty="0"/>
          </a:p>
        </p:txBody>
      </p:sp>
      <p:sp>
        <p:nvSpPr>
          <p:cNvPr id="10" name="Dette"/>
          <p:cNvSpPr/>
          <p:nvPr/>
        </p:nvSpPr>
        <p:spPr>
          <a:xfrm>
            <a:off x="6236208" y="1783080"/>
            <a:ext cx="5321808" cy="1371600"/>
          </a:xfrm>
          <a:prstGeom prst="roundRect">
            <a:avLst>
              <a:gd name="adj" fmla="val 10000"/>
            </a:avLst>
          </a:prstGeom>
          <a:solidFill>
            <a:schemeClr val="bg2"/>
          </a:solidFill>
          <a:ln w="12700">
            <a:solidFill>
              <a:schemeClr val="bg2"/>
            </a:solidFill>
            <a:prstDash val="solid"/>
          </a:ln>
        </p:spPr>
      </p:sp>
      <p:sp>
        <p:nvSpPr>
          <p:cNvPr id="11" name="Shape 7"/>
          <p:cNvSpPr/>
          <p:nvPr/>
        </p:nvSpPr>
        <p:spPr>
          <a:xfrm>
            <a:off x="6510528" y="2103120"/>
            <a:ext cx="731520" cy="731520"/>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6693408" y="2286000"/>
            <a:ext cx="365760" cy="365760"/>
          </a:xfrm>
          <a:prstGeom prst="rect">
            <a:avLst/>
          </a:prstGeom>
        </p:spPr>
      </p:pic>
      <p:sp>
        <p:nvSpPr>
          <p:cNvPr id="13" name="Text 8"/>
          <p:cNvSpPr txBox="1"/>
          <p:nvPr/>
        </p:nvSpPr>
        <p:spPr>
          <a:xfrm>
            <a:off x="7470648" y="1965960"/>
            <a:ext cx="3858768" cy="411480"/>
          </a:xfrm>
          <a:prstGeom prst="rect">
            <a:avLst/>
          </a:prstGeom>
          <a:noFill/>
          <a:ln/>
        </p:spPr>
        <p:txBody>
          <a:bodyPr wrap="square" lIns="0" tIns="0" rIns="0" bIns="0" rtlCol="0" anchor="ctr"/>
          <a:lstStyle/>
          <a:p>
            <a:pPr indent="0" marL="0">
              <a:buNone/>
            </a:pPr>
            <a:r>
              <a:rPr lang="en-US" sz="1800" b="1" dirty="0">
                <a:solidFill>
                  <a:schemeClr val="tx2"/>
                </a:solidFill>
              </a:rPr>
              <a:t>Dette</a:t>
            </a:r>
            <a:endParaRPr lang="en-US" sz="1800" dirty="0"/>
          </a:p>
        </p:txBody>
      </p:sp>
      <p:sp>
        <p:nvSpPr>
          <p:cNvPr id="14" name="Text 9"/>
          <p:cNvSpPr txBox="1"/>
          <p:nvPr/>
        </p:nvSpPr>
        <p:spPr>
          <a:xfrm>
            <a:off x="7470648" y="2377440"/>
            <a:ext cx="3858768" cy="685800"/>
          </a:xfrm>
          <a:prstGeom prst="rect">
            <a:avLst/>
          </a:prstGeom>
          <a:noFill/>
          <a:ln/>
        </p:spPr>
        <p:txBody>
          <a:bodyPr wrap="square" lIns="0" tIns="0" rIns="0" bIns="0" rtlCol="0" anchor="t"/>
          <a:lstStyle/>
          <a:p>
            <a:pPr indent="0" marL="0">
              <a:buNone/>
            </a:pPr>
            <a:r>
              <a:rPr lang="en-US" sz="1500" dirty="0">
                <a:solidFill>
                  <a:schemeClr val="tx1"/>
                </a:solidFill>
              </a:rPr>
              <a:t>Plus de 110 % du PIB : on annonce la facture, sans les moyens de la payer.</a:t>
            </a:r>
            <a:endParaRPr lang="en-US" sz="1500" dirty="0"/>
          </a:p>
        </p:txBody>
      </p:sp>
      <p:sp>
        <p:nvSpPr>
          <p:cNvPr id="15" name="Retraites"/>
          <p:cNvSpPr/>
          <p:nvPr/>
        </p:nvSpPr>
        <p:spPr>
          <a:xfrm>
            <a:off x="640080" y="3429000"/>
            <a:ext cx="5321808" cy="1371600"/>
          </a:xfrm>
          <a:prstGeom prst="roundRect">
            <a:avLst>
              <a:gd name="adj" fmla="val 10000"/>
            </a:avLst>
          </a:prstGeom>
          <a:solidFill>
            <a:schemeClr val="bg2"/>
          </a:solidFill>
          <a:ln w="12700">
            <a:solidFill>
              <a:schemeClr val="bg2"/>
            </a:solidFill>
            <a:prstDash val="solid"/>
          </a:ln>
        </p:spPr>
      </p:sp>
      <p:sp>
        <p:nvSpPr>
          <p:cNvPr id="16" name="Shape 11"/>
          <p:cNvSpPr/>
          <p:nvPr/>
        </p:nvSpPr>
        <p:spPr>
          <a:xfrm>
            <a:off x="914400" y="3749040"/>
            <a:ext cx="731520" cy="731520"/>
          </a:xfrm>
          <a:prstGeom prst="ellipse">
            <a:avLst/>
          </a:prstGeom>
          <a:solidFill>
            <a:schemeClr val="accent1"/>
          </a:solidFill>
          <a:ln w="12700">
            <a:solidFill>
              <a:schemeClr val="accent1"/>
            </a:solidFill>
            <a:prstDash val="solid"/>
          </a:ln>
        </p:spPr>
      </p:sp>
      <p:pic>
        <p:nvPicPr>
          <p:cNvPr id="17" name="Image 2" descr="preencoded.png">    </p:cNvPr>
          <p:cNvPicPr>
            <a:picLocks noChangeAspect="1"/>
          </p:cNvPicPr>
          <p:nvPr/>
        </p:nvPicPr>
        <p:blipFill>
          <a:blip r:embed="rId3"/>
          <a:stretch>
            <a:fillRect/>
          </a:stretch>
        </p:blipFill>
        <p:spPr>
          <a:xfrm>
            <a:off x="1097280" y="3931920"/>
            <a:ext cx="365760" cy="365760"/>
          </a:xfrm>
          <a:prstGeom prst="rect">
            <a:avLst/>
          </a:prstGeom>
        </p:spPr>
      </p:pic>
      <p:sp>
        <p:nvSpPr>
          <p:cNvPr id="18" name="Text 12"/>
          <p:cNvSpPr txBox="1"/>
          <p:nvPr/>
        </p:nvSpPr>
        <p:spPr>
          <a:xfrm>
            <a:off x="1874520" y="3611880"/>
            <a:ext cx="3858768" cy="411480"/>
          </a:xfrm>
          <a:prstGeom prst="rect">
            <a:avLst/>
          </a:prstGeom>
          <a:noFill/>
          <a:ln/>
        </p:spPr>
        <p:txBody>
          <a:bodyPr wrap="square" lIns="0" tIns="0" rIns="0" bIns="0" rtlCol="0" anchor="ctr"/>
          <a:lstStyle/>
          <a:p>
            <a:pPr indent="0" marL="0">
              <a:buNone/>
            </a:pPr>
            <a:r>
              <a:rPr lang="en-US" sz="1800" b="1" dirty="0">
                <a:solidFill>
                  <a:schemeClr val="tx2"/>
                </a:solidFill>
              </a:rPr>
              <a:t>Retraites</a:t>
            </a:r>
            <a:endParaRPr lang="en-US" sz="1800" dirty="0"/>
          </a:p>
        </p:txBody>
      </p:sp>
      <p:sp>
        <p:nvSpPr>
          <p:cNvPr id="19" name="Text 13"/>
          <p:cNvSpPr txBox="1"/>
          <p:nvPr/>
        </p:nvSpPr>
        <p:spPr>
          <a:xfrm>
            <a:off x="1874520" y="4023360"/>
            <a:ext cx="3858768" cy="685800"/>
          </a:xfrm>
          <a:prstGeom prst="rect">
            <a:avLst/>
          </a:prstGeom>
          <a:noFill/>
          <a:ln/>
        </p:spPr>
        <p:txBody>
          <a:bodyPr wrap="square" lIns="0" tIns="0" rIns="0" bIns="0" rtlCol="0" anchor="t"/>
          <a:lstStyle/>
          <a:p>
            <a:pPr indent="0" marL="0">
              <a:buNone/>
            </a:pPr>
            <a:r>
              <a:rPr lang="en-US" sz="1500" dirty="0">
                <a:solidFill>
                  <a:schemeClr val="tx1"/>
                </a:solidFill>
              </a:rPr>
              <a:t>Moins d'actifs par retraité : cotiser plus, sans garantie en retour.</a:t>
            </a:r>
            <a:endParaRPr lang="en-US" sz="1500" dirty="0"/>
          </a:p>
        </p:txBody>
      </p:sp>
      <p:sp>
        <p:nvSpPr>
          <p:cNvPr id="20" name="Intelligence artificielle"/>
          <p:cNvSpPr/>
          <p:nvPr/>
        </p:nvSpPr>
        <p:spPr>
          <a:xfrm>
            <a:off x="6236208" y="3429000"/>
            <a:ext cx="5321808" cy="1371600"/>
          </a:xfrm>
          <a:prstGeom prst="roundRect">
            <a:avLst>
              <a:gd name="adj" fmla="val 10000"/>
            </a:avLst>
          </a:prstGeom>
          <a:solidFill>
            <a:schemeClr val="bg2"/>
          </a:solidFill>
          <a:ln w="12700">
            <a:solidFill>
              <a:schemeClr val="bg2"/>
            </a:solidFill>
            <a:prstDash val="solid"/>
          </a:ln>
        </p:spPr>
      </p:sp>
      <p:sp>
        <p:nvSpPr>
          <p:cNvPr id="21" name="Shape 15"/>
          <p:cNvSpPr/>
          <p:nvPr/>
        </p:nvSpPr>
        <p:spPr>
          <a:xfrm>
            <a:off x="6510528" y="3749040"/>
            <a:ext cx="731520" cy="731520"/>
          </a:xfrm>
          <a:prstGeom prst="ellipse">
            <a:avLst/>
          </a:prstGeom>
          <a:solidFill>
            <a:schemeClr val="accent1"/>
          </a:solidFill>
          <a:ln w="12700">
            <a:solidFill>
              <a:schemeClr val="accent1"/>
            </a:solidFill>
            <a:prstDash val="solid"/>
          </a:ln>
        </p:spPr>
      </p:sp>
      <p:pic>
        <p:nvPicPr>
          <p:cNvPr id="22" name="Image 3" descr="preencoded.png">    </p:cNvPr>
          <p:cNvPicPr>
            <a:picLocks noChangeAspect="1"/>
          </p:cNvPicPr>
          <p:nvPr/>
        </p:nvPicPr>
        <p:blipFill>
          <a:blip r:embed="rId4"/>
          <a:stretch>
            <a:fillRect/>
          </a:stretch>
        </p:blipFill>
        <p:spPr>
          <a:xfrm>
            <a:off x="6693408" y="3931920"/>
            <a:ext cx="365760" cy="365760"/>
          </a:xfrm>
          <a:prstGeom prst="rect">
            <a:avLst/>
          </a:prstGeom>
        </p:spPr>
      </p:pic>
      <p:sp>
        <p:nvSpPr>
          <p:cNvPr id="23" name="Text 16"/>
          <p:cNvSpPr txBox="1"/>
          <p:nvPr/>
        </p:nvSpPr>
        <p:spPr>
          <a:xfrm>
            <a:off x="7470648" y="3611880"/>
            <a:ext cx="3858768" cy="411480"/>
          </a:xfrm>
          <a:prstGeom prst="rect">
            <a:avLst/>
          </a:prstGeom>
          <a:noFill/>
          <a:ln/>
        </p:spPr>
        <p:txBody>
          <a:bodyPr wrap="square" lIns="0" tIns="0" rIns="0" bIns="0" rtlCol="0" anchor="ctr"/>
          <a:lstStyle/>
          <a:p>
            <a:pPr indent="0" marL="0">
              <a:buNone/>
            </a:pPr>
            <a:r>
              <a:rPr lang="en-US" sz="1800" b="1" dirty="0">
                <a:solidFill>
                  <a:schemeClr val="tx2"/>
                </a:solidFill>
              </a:rPr>
              <a:t>Intelligence artificielle</a:t>
            </a:r>
            <a:endParaRPr lang="en-US" sz="1800" dirty="0"/>
          </a:p>
        </p:txBody>
      </p:sp>
      <p:sp>
        <p:nvSpPr>
          <p:cNvPr id="24" name="Text 17"/>
          <p:cNvSpPr txBox="1"/>
          <p:nvPr/>
        </p:nvSpPr>
        <p:spPr>
          <a:xfrm>
            <a:off x="7470648" y="4023360"/>
            <a:ext cx="3858768" cy="685800"/>
          </a:xfrm>
          <a:prstGeom prst="rect">
            <a:avLst/>
          </a:prstGeom>
          <a:noFill/>
          <a:ln/>
        </p:spPr>
        <p:txBody>
          <a:bodyPr wrap="square" lIns="0" tIns="0" rIns="0" bIns="0" rtlCol="0" anchor="t"/>
          <a:lstStyle/>
          <a:p>
            <a:pPr indent="0" marL="0">
              <a:buNone/>
            </a:pPr>
            <a:r>
              <a:rPr lang="en-US" sz="1500" dirty="0">
                <a:solidFill>
                  <a:schemeClr val="tx1"/>
                </a:solidFill>
              </a:rPr>
              <a:t>Gestion, compta, relation client : quels métiers existeront demain ?</a:t>
            </a:r>
            <a:endParaRPr lang="en-US" sz="1500" dirty="0"/>
          </a:p>
        </p:txBody>
      </p:sp>
      <p:sp>
        <p:nvSpPr>
          <p:cNvPr id="25" name="Text 18"/>
          <p:cNvSpPr txBox="1"/>
          <p:nvPr/>
        </p:nvSpPr>
        <p:spPr>
          <a:xfrm>
            <a:off x="640080" y="5166360"/>
            <a:ext cx="10881360" cy="914400"/>
          </a:xfrm>
          <a:prstGeom prst="rect">
            <a:avLst/>
          </a:prstGeom>
          <a:noFill/>
          <a:ln/>
        </p:spPr>
        <p:txBody>
          <a:bodyPr wrap="square" lIns="0" tIns="0" rIns="0" bIns="0" rtlCol="0" anchor="t"/>
          <a:lstStyle/>
          <a:p>
            <a:pPr indent="0" marL="0">
              <a:buNone/>
            </a:pPr>
            <a:r>
              <a:rPr lang="en-US" sz="1600" i="1" dirty="0">
                <a:solidFill>
                  <a:schemeClr val="accent6"/>
                </a:solidFill>
              </a:rPr>
              <a:t>Gentina : une génération qui grandit dans l'anxiété. Lewi : « désenchantée », mais surtout lucide.</a:t>
            </a:r>
            <a:endParaRPr lang="en-US" sz="1600" dirty="0"/>
          </a:p>
          <a:p>
            <a:pPr indent="0" marL="0">
              <a:buNone/>
            </a:pPr>
            <a:r>
              <a:rPr lang="en-US" sz="1600" b="1" i="1" dirty="0">
                <a:solidFill>
                  <a:schemeClr val="tx2"/>
                </a:solidFill>
              </a:rPr>
              <a:t>On ne s'angoisse pas pour un emploi que l'on ne veut pas.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31520" y="822960"/>
            <a:ext cx="2377440" cy="868680"/>
          </a:xfrm>
          <a:prstGeom prst="roundRect">
            <a:avLst>
              <a:gd name="adj" fmla="val 12632"/>
            </a:avLst>
          </a:prstGeom>
          <a:solidFill>
            <a:schemeClr val="accent4"/>
          </a:solidFill>
          <a:ln w="12700">
            <a:solidFill>
              <a:schemeClr val="accent4"/>
            </a:solidFill>
            <a:prstDash val="solid"/>
          </a:ln>
        </p:spPr>
      </p:sp>
      <p:sp>
        <p:nvSpPr>
          <p:cNvPr id="3" name="Text 1"/>
          <p:cNvSpPr txBox="1"/>
          <p:nvPr/>
        </p:nvSpPr>
        <p:spPr>
          <a:xfrm>
            <a:off x="731520" y="822960"/>
            <a:ext cx="2377440" cy="868680"/>
          </a:xfrm>
          <a:prstGeom prst="rect">
            <a:avLst/>
          </a:prstGeom>
          <a:noFill/>
          <a:ln/>
        </p:spPr>
        <p:txBody>
          <a:bodyPr wrap="square" lIns="0" tIns="0" rIns="0" bIns="0" rtlCol="0" anchor="ctr"/>
          <a:lstStyle/>
          <a:p>
            <a:pPr algn="ctr" indent="0" marL="0">
              <a:buNone/>
            </a:pPr>
            <a:r>
              <a:rPr lang="en-US" sz="3600" b="1" dirty="0">
                <a:solidFill>
                  <a:schemeClr val="bg1"/>
                </a:solidFill>
                <a:latin typeface="Cambria" pitchFamily="34" charset="0"/>
                <a:ea typeface="Cambria" pitchFamily="34" charset="-122"/>
                <a:cs typeface="Cambria" pitchFamily="34" charset="-120"/>
              </a:rPr>
              <a:t>FAUX</a:t>
            </a:r>
            <a:endParaRPr lang="en-US" sz="3600" dirty="0"/>
          </a:p>
        </p:txBody>
      </p:sp>
      <p:sp>
        <p:nvSpPr>
          <p:cNvPr id="4" name="Text 0"/>
          <p:cNvSpPr/>
          <p:nvPr>
            <p:ph idx="100" type="title" hasCustomPrompt="1"/>
          </p:nvPr>
        </p:nvSpPr>
        <p:spPr>
          <a:xfrm>
            <a:off x="731520" y="1828800"/>
            <a:ext cx="10698480" cy="1645920"/>
          </a:xfrm>
          <a:prstGeom prst="rect">
            <a:avLst/>
          </a:prstGeom>
          <a:noFill/>
          <a:ln/>
        </p:spPr>
        <p:txBody>
          <a:bodyPr wrap="square" rtlCol="0" anchor="ctr"/>
          <a:lstStyle/>
          <a:p>
            <a:pPr algn="l" indent="0" marL="0">
              <a:buNone/>
            </a:pPr>
            <a:r>
              <a:rPr lang="en-US" sz="4400" b="1" dirty="0">
                <a:solidFill>
                  <a:schemeClr val="bg1"/>
                </a:solidFill>
              </a:rPr>
              <a:t>Sur le plan des faits, l'idée reçue ne tient pas.</a:t>
            </a:r>
            <a:endParaRPr lang="en-US" sz="4400" dirty="0"/>
          </a:p>
        </p:txBody>
      </p:sp>
      <p:sp>
        <p:nvSpPr>
          <p:cNvPr id="5" name="Text 0"/>
          <p:cNvSpPr/>
          <p:nvPr>
            <p:ph idx="101" type="body" hasCustomPrompt="1"/>
          </p:nvPr>
        </p:nvSpPr>
        <p:spPr>
          <a:xfrm>
            <a:off x="731520" y="3566160"/>
            <a:ext cx="10698480" cy="1280160"/>
          </a:xfrm>
          <a:prstGeom prst="rect">
            <a:avLst/>
          </a:prstGeom>
          <a:noFill/>
          <a:ln/>
        </p:spPr>
        <p:txBody>
          <a:bodyPr wrap="square" rtlCol="0" anchor="t"/>
          <a:lstStyle/>
          <a:p>
            <a:pPr indent="0" marL="0">
              <a:buNone/>
            </a:pPr>
            <a:r>
              <a:rPr lang="en-US" sz="2000" dirty="0">
                <a:solidFill>
                  <a:schemeClr val="bg2"/>
                </a:solidFill>
              </a:rPr>
              <a:t>Les jeunes travaillent tôt, dans des conditions difficiles et un contexte incertain. Mais alors, qu'est-ce qui a changé ? Leur rapport au travail.</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III. UN CHANGEMENT DE VALEURS · A</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Le travail n'est plus le seul symbole de réussite</a:t>
            </a:r>
            <a:endParaRPr lang="en-US" sz="3400" dirty="0"/>
          </a:p>
        </p:txBody>
      </p:sp>
      <p:sp>
        <p:nvSpPr>
          <p:cNvPr id="5" name="Points clés"/>
          <p:cNvSpPr txBox="1"/>
          <p:nvPr/>
        </p:nvSpPr>
        <p:spPr>
          <a:xfrm>
            <a:off x="640080" y="1783080"/>
            <a:ext cx="6675120" cy="420624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Pour les baby-boomers, on « était » ce que l'on faisait : une carrière, parfois dans une seule entreprise.</a:t>
            </a:r>
            <a:endParaRPr lang="en-US" sz="1900" dirty="0"/>
          </a:p>
          <a:p>
            <a:pPr marL="228600" indent="-228600">
              <a:spcAft>
                <a:spcPts val="1400"/>
              </a:spcAft>
              <a:buSzPct val="100000"/>
              <a:buChar char="•"/>
            </a:pPr>
            <a:r>
              <a:rPr lang="en-US" sz="1900" dirty="0">
                <a:solidFill>
                  <a:schemeClr val="tx1"/>
                </a:solidFill>
              </a:rPr>
              <a:t>Pour la génération Z, le travail est désacralisé : il reste important, mais il n'est plus le seul.</a:t>
            </a:r>
            <a:endParaRPr lang="en-US" sz="1900" dirty="0"/>
          </a:p>
          <a:p>
            <a:pPr marL="228600" indent="-228600">
              <a:spcAft>
                <a:spcPts val="1400"/>
              </a:spcAft>
              <a:buSzPct val="100000"/>
              <a:buChar char="•"/>
            </a:pPr>
            <a:r>
              <a:rPr lang="en-US" sz="1900" dirty="0">
                <a:solidFill>
                  <a:schemeClr val="tx1"/>
                </a:solidFill>
              </a:rPr>
              <a:t>Famille, amis, sport, voyages, engagement associatif comptent autant, parfois davantage.</a:t>
            </a:r>
            <a:endParaRPr lang="en-US" sz="1900" dirty="0"/>
          </a:p>
          <a:p>
            <a:pPr marL="228600" indent="-228600">
              <a:spcAft>
                <a:spcPts val="1400"/>
              </a:spcAft>
              <a:buSzPct val="100000"/>
              <a:buChar char="•"/>
            </a:pPr>
            <a:r>
              <a:rPr lang="en-US" sz="1900" dirty="0">
                <a:solidFill>
                  <a:schemeClr val="tx1"/>
                </a:solidFill>
              </a:rPr>
              <a:t>Réussir sa vie, ce n'est plus seulement faire carrière.</a:t>
            </a:r>
            <a:endParaRPr lang="en-US" sz="1900" dirty="0"/>
          </a:p>
        </p:txBody>
      </p:sp>
      <p:sp>
        <p:nvSpPr>
          <p:cNvPr id="6" name="Carte source"/>
          <p:cNvSpPr/>
          <p:nvPr/>
        </p:nvSpPr>
        <p:spPr>
          <a:xfrm>
            <a:off x="7772400" y="1783080"/>
            <a:ext cx="3776472" cy="4206240"/>
          </a:xfrm>
          <a:prstGeom prst="roundRect">
            <a:avLst>
              <a:gd name="adj" fmla="val 3632"/>
            </a:avLst>
          </a:prstGeom>
          <a:solidFill>
            <a:schemeClr val="bg2"/>
          </a:solidFill>
          <a:ln w="12700">
            <a:solidFill>
              <a:schemeClr val="bg2"/>
            </a:solidFill>
            <a:prstDash val="solid"/>
          </a:ln>
        </p:spPr>
      </p:sp>
      <p:sp>
        <p:nvSpPr>
          <p:cNvPr id="7" name="Pastille icône"/>
          <p:cNvSpPr/>
          <p:nvPr/>
        </p:nvSpPr>
        <p:spPr>
          <a:xfrm>
            <a:off x="8092440" y="2103120"/>
            <a:ext cx="731520" cy="731520"/>
          </a:xfrm>
          <a:prstGeom prst="ellipse">
            <a:avLst/>
          </a:prstGeom>
          <a:solidFill>
            <a:schemeClr val="accent1"/>
          </a:solidFill>
          <a:ln w="12700">
            <a:solidFill>
              <a:schemeClr val="accent1"/>
            </a:solidFill>
            <a:prstDash val="solid"/>
          </a:ln>
        </p:spPr>
      </p:sp>
      <p:pic>
        <p:nvPicPr>
          <p:cNvPr id="8" name="Icône" descr="preencoded.png">    </p:cNvPr>
          <p:cNvPicPr>
            <a:picLocks noChangeAspect="1"/>
          </p:cNvPicPr>
          <p:nvPr/>
        </p:nvPicPr>
        <p:blipFill>
          <a:blip r:embed="rId1"/>
          <a:stretch>
            <a:fillRect/>
          </a:stretch>
        </p:blipFill>
        <p:spPr>
          <a:xfrm>
            <a:off x="8275320" y="2286000"/>
            <a:ext cx="365760" cy="365760"/>
          </a:xfrm>
          <a:prstGeom prst="rect">
            <a:avLst/>
          </a:prstGeom>
        </p:spPr>
      </p:pic>
      <p:sp>
        <p:nvSpPr>
          <p:cNvPr id="9" name="Text 5"/>
          <p:cNvSpPr txBox="1"/>
          <p:nvPr/>
        </p:nvSpPr>
        <p:spPr>
          <a:xfrm>
            <a:off x="9006840" y="2130552"/>
            <a:ext cx="2313432" cy="274320"/>
          </a:xfrm>
          <a:prstGeom prst="rect">
            <a:avLst/>
          </a:prstGeom>
          <a:noFill/>
          <a:ln/>
        </p:spPr>
        <p:txBody>
          <a:bodyPr wrap="square" lIns="0" tIns="0" rIns="0" bIns="0" rtlCol="0" anchor="ctr"/>
          <a:lstStyle/>
          <a:p>
            <a:pPr indent="0" marL="0">
              <a:buNone/>
            </a:pPr>
            <a:r>
              <a:rPr lang="en-US" sz="1100" b="1" dirty="0">
                <a:solidFill>
                  <a:schemeClr val="accent6"/>
                </a:solidFill>
              </a:rPr>
              <a:t>CE QU'EN DIT</a:t>
            </a:r>
            <a:endParaRPr lang="en-US" sz="1100" dirty="0"/>
          </a:p>
        </p:txBody>
      </p:sp>
      <p:sp>
        <p:nvSpPr>
          <p:cNvPr id="10" name="Text 6"/>
          <p:cNvSpPr txBox="1"/>
          <p:nvPr/>
        </p:nvSpPr>
        <p:spPr>
          <a:xfrm>
            <a:off x="9006840" y="2404872"/>
            <a:ext cx="2313432" cy="41148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Ollivier &amp; Tanguy</a:t>
            </a:r>
            <a:endParaRPr lang="en-US" sz="1700" dirty="0"/>
          </a:p>
        </p:txBody>
      </p:sp>
      <p:sp>
        <p:nvSpPr>
          <p:cNvPr id="11" name="Idée de l&amp;apos;auteur"/>
          <p:cNvSpPr txBox="1"/>
          <p:nvPr/>
        </p:nvSpPr>
        <p:spPr>
          <a:xfrm>
            <a:off x="8092440" y="3108960"/>
            <a:ext cx="3136392" cy="2606040"/>
          </a:xfrm>
          <a:prstGeom prst="rect">
            <a:avLst/>
          </a:prstGeom>
          <a:noFill/>
          <a:ln/>
        </p:spPr>
        <p:txBody>
          <a:bodyPr wrap="square" lIns="0" tIns="0" rIns="0" bIns="0" rtlCol="0" anchor="t"/>
          <a:lstStyle/>
          <a:p>
            <a:pPr indent="0" marL="0">
              <a:buNone/>
            </a:pPr>
            <a:r>
              <a:rPr lang="en-US" sz="1600" i="1" dirty="0">
                <a:solidFill>
                  <a:schemeClr val="tx1"/>
                </a:solidFill>
              </a:rPr>
              <a:t>Pour les générations précédentes, le travail était le pilier de l'identité sociale. Pour les Z, il partage la place avec d'autres dimensions de la vie.</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III. UN CHANGEMENT DE VALEURS · B</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Travailler pour vivre, plutôt que vivre pour travailler</a:t>
            </a:r>
            <a:endParaRPr lang="en-US" sz="3400" dirty="0"/>
          </a:p>
        </p:txBody>
      </p:sp>
      <p:sp>
        <p:nvSpPr>
          <p:cNvPr id="5" name="Points clés"/>
          <p:cNvSpPr txBox="1"/>
          <p:nvPr/>
        </p:nvSpPr>
        <p:spPr>
          <a:xfrm>
            <a:off x="640080" y="1783080"/>
            <a:ext cx="6675120" cy="420624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Les jeunes ont vu leurs proches s'épuiser, subir le burn-out, être licenciés après des années de dévouement.</a:t>
            </a:r>
            <a:endParaRPr lang="en-US" sz="1900" dirty="0"/>
          </a:p>
          <a:p>
            <a:pPr marL="228600" indent="-228600">
              <a:spcAft>
                <a:spcPts val="1400"/>
              </a:spcAft>
              <a:buSzPct val="100000"/>
              <a:buChar char="•"/>
            </a:pPr>
            <a:r>
              <a:rPr lang="en-US" sz="1900" dirty="0">
                <a:solidFill>
                  <a:schemeClr val="tx1"/>
                </a:solidFill>
              </a:rPr>
              <a:t>Leçon retenue : ne pas tout sacrifier à une entreprise qui ne le fera pas en retour.</a:t>
            </a:r>
            <a:endParaRPr lang="en-US" sz="1900" dirty="0"/>
          </a:p>
          <a:p>
            <a:pPr marL="228600" indent="-228600">
              <a:spcAft>
                <a:spcPts val="1400"/>
              </a:spcAft>
              <a:buSzPct val="100000"/>
              <a:buChar char="•"/>
            </a:pPr>
            <a:r>
              <a:rPr lang="en-US" sz="1900" dirty="0">
                <a:solidFill>
                  <a:schemeClr val="tx1"/>
                </a:solidFill>
              </a:rPr>
              <a:t>La crise sanitaire a accéléré cette prise de conscience, qui touche aussi les plus âgés.</a:t>
            </a:r>
            <a:endParaRPr lang="en-US" sz="1900" dirty="0"/>
          </a:p>
          <a:p>
            <a:pPr marL="228600" indent="-228600">
              <a:spcAft>
                <a:spcPts val="1400"/>
              </a:spcAft>
              <a:buSzPct val="100000"/>
              <a:buChar char="•"/>
            </a:pPr>
            <a:r>
              <a:rPr lang="en-US" sz="1900" dirty="0">
                <a:solidFill>
                  <a:schemeClr val="tx1"/>
                </a:solidFill>
              </a:rPr>
              <a:t>Ce n'est pas du désengagement, c'est de la lucidité.</a:t>
            </a:r>
            <a:endParaRPr lang="en-US" sz="1900" dirty="0"/>
          </a:p>
        </p:txBody>
      </p:sp>
      <p:sp>
        <p:nvSpPr>
          <p:cNvPr id="6" name="Vivre pour travailler"/>
          <p:cNvSpPr/>
          <p:nvPr/>
        </p:nvSpPr>
        <p:spPr>
          <a:xfrm>
            <a:off x="7772400" y="1783080"/>
            <a:ext cx="3776472" cy="1920240"/>
          </a:xfrm>
          <a:prstGeom prst="roundRect">
            <a:avLst>
              <a:gd name="adj" fmla="val 7143"/>
            </a:avLst>
          </a:prstGeom>
          <a:solidFill>
            <a:schemeClr val="bg2"/>
          </a:solidFill>
          <a:ln w="12700">
            <a:solidFill>
              <a:schemeClr val="bg2"/>
            </a:solidFill>
            <a:prstDash val="solid"/>
          </a:ln>
        </p:spPr>
      </p:sp>
      <p:sp>
        <p:nvSpPr>
          <p:cNvPr id="7" name="Text 4"/>
          <p:cNvSpPr txBox="1"/>
          <p:nvPr/>
        </p:nvSpPr>
        <p:spPr>
          <a:xfrm>
            <a:off x="8092440" y="2011680"/>
            <a:ext cx="31546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Vivre pour travailler</a:t>
            </a:r>
            <a:endParaRPr lang="en-US" sz="2000" dirty="0"/>
          </a:p>
        </p:txBody>
      </p:sp>
      <p:sp>
        <p:nvSpPr>
          <p:cNvPr id="8" name="Text 5"/>
          <p:cNvSpPr txBox="1"/>
          <p:nvPr/>
        </p:nvSpPr>
        <p:spPr>
          <a:xfrm>
            <a:off x="8092440" y="2560320"/>
            <a:ext cx="3154680" cy="1005840"/>
          </a:xfrm>
          <a:prstGeom prst="rect">
            <a:avLst/>
          </a:prstGeom>
          <a:noFill/>
          <a:ln/>
        </p:spPr>
        <p:txBody>
          <a:bodyPr wrap="square" lIns="0" tIns="0" rIns="0" bIns="0" rtlCol="0" anchor="t"/>
          <a:lstStyle/>
          <a:p>
            <a:pPr indent="0" marL="0">
              <a:buNone/>
            </a:pPr>
            <a:r>
              <a:rPr lang="en-US" sz="1600" dirty="0">
                <a:solidFill>
                  <a:schemeClr val="tx1"/>
                </a:solidFill>
              </a:rPr>
              <a:t>Salaire très élevé, risque d'épuisement</a:t>
            </a:r>
            <a:endParaRPr lang="en-US" sz="1600" dirty="0"/>
          </a:p>
        </p:txBody>
      </p:sp>
      <p:sp>
        <p:nvSpPr>
          <p:cNvPr id="9" name="Travailler pour vivre"/>
          <p:cNvSpPr/>
          <p:nvPr/>
        </p:nvSpPr>
        <p:spPr>
          <a:xfrm>
            <a:off x="7772400" y="3977640"/>
            <a:ext cx="3776472" cy="1920240"/>
          </a:xfrm>
          <a:prstGeom prst="roundRect">
            <a:avLst>
              <a:gd name="adj" fmla="val 7143"/>
            </a:avLst>
          </a:prstGeom>
          <a:solidFill>
            <a:schemeClr val="tx2"/>
          </a:solidFill>
          <a:ln w="12700">
            <a:solidFill>
              <a:schemeClr val="tx2"/>
            </a:solidFill>
            <a:prstDash val="solid"/>
          </a:ln>
        </p:spPr>
      </p:sp>
      <p:sp>
        <p:nvSpPr>
          <p:cNvPr id="10" name="Text 7"/>
          <p:cNvSpPr txBox="1"/>
          <p:nvPr/>
        </p:nvSpPr>
        <p:spPr>
          <a:xfrm>
            <a:off x="8092440" y="4206240"/>
            <a:ext cx="31546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Travailler pour vivre</a:t>
            </a:r>
            <a:endParaRPr lang="en-US" sz="2000" dirty="0"/>
          </a:p>
        </p:txBody>
      </p:sp>
      <p:sp>
        <p:nvSpPr>
          <p:cNvPr id="11" name="Text 8"/>
          <p:cNvSpPr txBox="1"/>
          <p:nvPr/>
        </p:nvSpPr>
        <p:spPr>
          <a:xfrm>
            <a:off x="8092440" y="4754880"/>
            <a:ext cx="3154680" cy="1005840"/>
          </a:xfrm>
          <a:prstGeom prst="rect">
            <a:avLst/>
          </a:prstGeom>
          <a:noFill/>
          <a:ln/>
        </p:spPr>
        <p:txBody>
          <a:bodyPr wrap="square" lIns="0" tIns="0" rIns="0" bIns="0" rtlCol="0" anchor="t"/>
          <a:lstStyle/>
          <a:p>
            <a:pPr indent="0" marL="0">
              <a:buNone/>
            </a:pPr>
            <a:r>
              <a:rPr lang="en-US" sz="1600" dirty="0">
                <a:solidFill>
                  <a:schemeClr val="bg1"/>
                </a:solidFill>
              </a:rPr>
              <a:t>Salaire correct, du temps pour vivre : le choix de la génération Z (Lewi)</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365760"/>
            <a:ext cx="10515600" cy="320040"/>
          </a:xfrm>
          <a:prstGeom prst="rect">
            <a:avLst/>
          </a:prstGeom>
          <a:noFill/>
          <a:ln/>
        </p:spPr>
        <p:txBody>
          <a:bodyPr wrap="square" lIns="0" tIns="0" rIns="0" bIns="0" rtlCol="0"/>
          <a:lstStyle/>
          <a:p>
            <a:pPr indent="0" marL="0">
              <a:buNone/>
            </a:pPr>
            <a:r>
              <a:rPr lang="en-US" sz="1200" b="1" dirty="0">
                <a:solidFill>
                  <a:schemeClr val="accent1"/>
                </a:solidFill>
              </a:rPr>
              <a:t>III. UN CHANGEMENT DE VALEURS · C</a:t>
            </a:r>
            <a:endParaRPr lang="en-US" sz="1200" dirty="0"/>
          </a:p>
        </p:txBody>
      </p:sp>
      <p:sp>
        <p:nvSpPr>
          <p:cNvPr id="3" name="Text 0"/>
          <p:cNvSpPr/>
          <p:nvPr>
            <p:ph idx="101" type="title" hasCustomPrompt="1"/>
          </p:nvPr>
        </p:nvSpPr>
        <p:spPr>
          <a:xfrm>
            <a:off x="640080" y="685800"/>
            <a:ext cx="10881360" cy="822960"/>
          </a:xfrm>
          <a:prstGeom prst="rect">
            <a:avLst/>
          </a:prstGeom>
          <a:noFill/>
          <a:ln/>
        </p:spPr>
        <p:txBody>
          <a:bodyPr wrap="square" lIns="0" tIns="0" rIns="0" bIns="0" rtlCol="0" anchor="t"/>
          <a:lstStyle/>
          <a:p>
            <a:pPr algn="l" indent="0" marL="0">
              <a:buNone/>
            </a:pPr>
            <a:r>
              <a:rPr lang="en-US" sz="3400" b="1" dirty="0">
                <a:solidFill>
                  <a:schemeClr val="tx2"/>
                </a:solidFill>
              </a:rPr>
              <a:t>Une nouvelle relation à l'entreprise</a:t>
            </a:r>
            <a:endParaRPr lang="en-US" sz="3400" dirty="0"/>
          </a:p>
        </p:txBody>
      </p:sp>
      <p:sp>
        <p:nvSpPr>
          <p:cNvPr id="5" name="Points clés"/>
          <p:cNvSpPr txBox="1"/>
          <p:nvPr/>
        </p:nvSpPr>
        <p:spPr>
          <a:xfrm>
            <a:off x="640080" y="1783080"/>
            <a:ext cx="6675120" cy="4206240"/>
          </a:xfrm>
          <a:prstGeom prst="rect">
            <a:avLst/>
          </a:prstGeom>
          <a:noFill/>
          <a:ln/>
        </p:spPr>
        <p:txBody>
          <a:bodyPr wrap="square" rtlCol="0" anchor="t"/>
          <a:lstStyle/>
          <a:p>
            <a:pPr marL="228600" indent="-228600">
              <a:spcAft>
                <a:spcPts val="1400"/>
              </a:spcAft>
              <a:buSzPct val="100000"/>
              <a:buChar char="•"/>
            </a:pPr>
            <a:r>
              <a:rPr lang="en-US" sz="1900" dirty="0">
                <a:solidFill>
                  <a:schemeClr val="tx1"/>
                </a:solidFill>
              </a:rPr>
              <a:t>Une relation plus exigeante, presque transactionnelle : la rémunération compte, vu le coût de la vie.</a:t>
            </a:r>
            <a:endParaRPr lang="en-US" sz="1900" dirty="0"/>
          </a:p>
          <a:p>
            <a:pPr marL="228600" indent="-228600">
              <a:spcAft>
                <a:spcPts val="1400"/>
              </a:spcAft>
              <a:buSzPct val="100000"/>
              <a:buChar char="•"/>
            </a:pPr>
            <a:r>
              <a:rPr lang="en-US" sz="1900" dirty="0">
                <a:solidFill>
                  <a:schemeClr val="tx1"/>
                </a:solidFill>
              </a:rPr>
              <a:t>Ils regardent aussi le sens, l'ambiance, l'évolution, la formation et l'éthique de l'entreprise.</a:t>
            </a:r>
            <a:endParaRPr lang="en-US" sz="1900" dirty="0"/>
          </a:p>
          <a:p>
            <a:pPr marL="228600" indent="-228600">
              <a:spcAft>
                <a:spcPts val="1400"/>
              </a:spcAft>
              <a:buSzPct val="100000"/>
              <a:buChar char="•"/>
            </a:pPr>
            <a:r>
              <a:rPr lang="en-US" sz="1900" dirty="0">
                <a:solidFill>
                  <a:schemeClr val="tx1"/>
                </a:solidFill>
              </a:rPr>
              <a:t>Moins fidèles par principe, ils s'investissent fortement dans un environnement qui leur convient.</a:t>
            </a:r>
            <a:endParaRPr lang="en-US" sz="1900" dirty="0"/>
          </a:p>
          <a:p>
            <a:pPr marL="228600" indent="-228600">
              <a:spcAft>
                <a:spcPts val="1400"/>
              </a:spcAft>
              <a:buSzPct val="100000"/>
              <a:buChar char="•"/>
            </a:pPr>
            <a:r>
              <a:rPr lang="en-US" sz="1900" dirty="0">
                <a:solidFill>
                  <a:schemeClr val="tx1"/>
                </a:solidFill>
              </a:rPr>
              <a:t>L'engagement ne s'exige plus, il se mérite : c'est une demande de réciprocité.</a:t>
            </a:r>
            <a:endParaRPr lang="en-US" sz="1900" dirty="0"/>
          </a:p>
        </p:txBody>
      </p:sp>
      <p:sp>
        <p:nvSpPr>
          <p:cNvPr id="6" name="Carte source"/>
          <p:cNvSpPr/>
          <p:nvPr/>
        </p:nvSpPr>
        <p:spPr>
          <a:xfrm>
            <a:off x="7772400" y="1783080"/>
            <a:ext cx="3776472" cy="4206240"/>
          </a:xfrm>
          <a:prstGeom prst="roundRect">
            <a:avLst>
              <a:gd name="adj" fmla="val 3632"/>
            </a:avLst>
          </a:prstGeom>
          <a:solidFill>
            <a:schemeClr val="bg2"/>
          </a:solidFill>
          <a:ln w="12700">
            <a:solidFill>
              <a:schemeClr val="bg2"/>
            </a:solidFill>
            <a:prstDash val="solid"/>
          </a:ln>
        </p:spPr>
      </p:sp>
      <p:sp>
        <p:nvSpPr>
          <p:cNvPr id="7" name="Pastille icône"/>
          <p:cNvSpPr/>
          <p:nvPr/>
        </p:nvSpPr>
        <p:spPr>
          <a:xfrm>
            <a:off x="8092440" y="2103120"/>
            <a:ext cx="731520" cy="731520"/>
          </a:xfrm>
          <a:prstGeom prst="ellipse">
            <a:avLst/>
          </a:prstGeom>
          <a:solidFill>
            <a:schemeClr val="accent1"/>
          </a:solidFill>
          <a:ln w="12700">
            <a:solidFill>
              <a:schemeClr val="accent1"/>
            </a:solidFill>
            <a:prstDash val="solid"/>
          </a:ln>
        </p:spPr>
      </p:sp>
      <p:pic>
        <p:nvPicPr>
          <p:cNvPr id="8" name="Icône" descr="preencoded.png">    </p:cNvPr>
          <p:cNvPicPr>
            <a:picLocks noChangeAspect="1"/>
          </p:cNvPicPr>
          <p:nvPr/>
        </p:nvPicPr>
        <p:blipFill>
          <a:blip r:embed="rId1"/>
          <a:stretch>
            <a:fillRect/>
          </a:stretch>
        </p:blipFill>
        <p:spPr>
          <a:xfrm>
            <a:off x="8275320" y="2286000"/>
            <a:ext cx="365760" cy="365760"/>
          </a:xfrm>
          <a:prstGeom prst="rect">
            <a:avLst/>
          </a:prstGeom>
        </p:spPr>
      </p:pic>
      <p:sp>
        <p:nvSpPr>
          <p:cNvPr id="9" name="Text 5"/>
          <p:cNvSpPr txBox="1"/>
          <p:nvPr/>
        </p:nvSpPr>
        <p:spPr>
          <a:xfrm>
            <a:off x="9006840" y="2130552"/>
            <a:ext cx="2313432" cy="274320"/>
          </a:xfrm>
          <a:prstGeom prst="rect">
            <a:avLst/>
          </a:prstGeom>
          <a:noFill/>
          <a:ln/>
        </p:spPr>
        <p:txBody>
          <a:bodyPr wrap="square" lIns="0" tIns="0" rIns="0" bIns="0" rtlCol="0" anchor="ctr"/>
          <a:lstStyle/>
          <a:p>
            <a:pPr indent="0" marL="0">
              <a:buNone/>
            </a:pPr>
            <a:r>
              <a:rPr lang="en-US" sz="1100" b="1" dirty="0">
                <a:solidFill>
                  <a:schemeClr val="accent6"/>
                </a:solidFill>
              </a:rPr>
              <a:t>CE QU'EN DIT</a:t>
            </a:r>
            <a:endParaRPr lang="en-US" sz="1100" dirty="0"/>
          </a:p>
        </p:txBody>
      </p:sp>
      <p:sp>
        <p:nvSpPr>
          <p:cNvPr id="10" name="Text 6"/>
          <p:cNvSpPr txBox="1"/>
          <p:nvPr/>
        </p:nvSpPr>
        <p:spPr>
          <a:xfrm>
            <a:off x="9006840" y="2404872"/>
            <a:ext cx="2313432" cy="41148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Elodie Gentina</a:t>
            </a:r>
            <a:endParaRPr lang="en-US" sz="1700" dirty="0"/>
          </a:p>
        </p:txBody>
      </p:sp>
      <p:sp>
        <p:nvSpPr>
          <p:cNvPr id="11" name="Idée de l&amp;apos;auteur"/>
          <p:cNvSpPr txBox="1"/>
          <p:nvPr/>
        </p:nvSpPr>
        <p:spPr>
          <a:xfrm>
            <a:off x="8092440" y="3108960"/>
            <a:ext cx="3136392" cy="2606040"/>
          </a:xfrm>
          <a:prstGeom prst="rect">
            <a:avLst/>
          </a:prstGeom>
          <a:noFill/>
          <a:ln/>
        </p:spPr>
        <p:txBody>
          <a:bodyPr wrap="square" lIns="0" tIns="0" rIns="0" bIns="0" rtlCol="0" anchor="t"/>
          <a:lstStyle/>
          <a:p>
            <a:pPr indent="0" marL="0">
              <a:buNone/>
            </a:pPr>
            <a:r>
              <a:rPr lang="en-US" sz="1600" i="1" dirty="0">
                <a:solidFill>
                  <a:schemeClr val="tx1"/>
                </a:solidFill>
              </a:rPr>
              <a:t>Passer du « petit chef » au « manager-coach » : retours fréquents, considération, association aux décisions, utilité concrète du travail.</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548640"/>
            <a:ext cx="10698480" cy="365760"/>
          </a:xfrm>
          <a:prstGeom prst="rect">
            <a:avLst/>
          </a:prstGeom>
          <a:noFill/>
          <a:ln/>
        </p:spPr>
        <p:txBody>
          <a:bodyPr wrap="square" lIns="0" tIns="0" rIns="0" bIns="0" rtlCol="0" anchor="ctr"/>
          <a:lstStyle/>
          <a:p>
            <a:pPr indent="0" marL="0">
              <a:buNone/>
            </a:pPr>
            <a:r>
              <a:rPr lang="en-US" sz="1400" b="1" dirty="0">
                <a:solidFill>
                  <a:schemeClr val="accent1"/>
                </a:solidFill>
              </a:rPr>
              <a:t>CONCLUSION · VRAI OU FAUX ?</a:t>
            </a:r>
            <a:endParaRPr lang="en-US" sz="1400" dirty="0"/>
          </a:p>
        </p:txBody>
      </p:sp>
      <p:sp>
        <p:nvSpPr>
          <p:cNvPr id="3" name="Text 1"/>
          <p:cNvSpPr txBox="1"/>
          <p:nvPr/>
        </p:nvSpPr>
        <p:spPr>
          <a:xfrm>
            <a:off x="731520" y="960120"/>
            <a:ext cx="10698480" cy="128016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Faux : les jeunes ne veulent plus travailler à n'importe quel prix.</a:t>
            </a:r>
            <a:endParaRPr lang="en-US" sz="3600" dirty="0"/>
          </a:p>
        </p:txBody>
      </p:sp>
      <p:sp>
        <p:nvSpPr>
          <p:cNvPr id="4" name="Text 2"/>
          <p:cNvSpPr txBox="1"/>
          <p:nvPr/>
        </p:nvSpPr>
        <p:spPr>
          <a:xfrm>
            <a:off x="731520" y="2468880"/>
            <a:ext cx="10698480" cy="1920240"/>
          </a:xfrm>
          <a:prstGeom prst="rect">
            <a:avLst/>
          </a:prstGeom>
          <a:noFill/>
          <a:ln/>
        </p:spPr>
        <p:txBody>
          <a:bodyPr wrap="square" rtlCol="0" anchor="t"/>
          <a:lstStyle/>
          <a:p>
            <a:pPr marL="228600" indent="-228600">
              <a:spcAft>
                <a:spcPts val="1200"/>
              </a:spcAft>
              <a:buSzPct val="100000"/>
              <a:buChar char="•"/>
            </a:pPr>
            <a:r>
              <a:rPr lang="en-US" sz="1900" dirty="0">
                <a:solidFill>
                  <a:schemeClr val="bg2"/>
                </a:solidFill>
              </a:rPr>
              <a:t>Ils travaillent : alternance, stages, jobs étudiants, dans un contexte précaire et incertain.</a:t>
            </a:r>
            <a:endParaRPr lang="en-US" sz="1900" dirty="0"/>
          </a:p>
          <a:p>
            <a:pPr marL="228600" indent="-228600">
              <a:spcAft>
                <a:spcPts val="1200"/>
              </a:spcAft>
              <a:buSzPct val="100000"/>
              <a:buChar char="•"/>
            </a:pPr>
            <a:r>
              <a:rPr lang="en-US" sz="1900" dirty="0">
                <a:solidFill>
                  <a:schemeClr val="bg2"/>
                </a:solidFill>
              </a:rPr>
              <a:t>Leurs attentes ont changé : du sens, un salaire juste, du temps pour vivre, des perspectives.</a:t>
            </a:r>
            <a:endParaRPr lang="en-US" sz="1900" dirty="0"/>
          </a:p>
          <a:p>
            <a:pPr marL="228600" indent="-228600">
              <a:spcAft>
                <a:spcPts val="1200"/>
              </a:spcAft>
              <a:buSzPct val="100000"/>
              <a:buChar char="•"/>
            </a:pPr>
            <a:r>
              <a:rPr lang="en-US" sz="1900" dirty="0">
                <a:solidFill>
                  <a:schemeClr val="bg2"/>
                </a:solidFill>
              </a:rPr>
              <a:t>Les trois ouvrages convergent : travail désacralisé, travailler pour vivre, management à repenser.</a:t>
            </a:r>
            <a:endParaRPr lang="en-US" sz="1900" dirty="0"/>
          </a:p>
        </p:txBody>
      </p:sp>
      <p:sp>
        <p:nvSpPr>
          <p:cNvPr id="5" name="Text 3"/>
          <p:cNvSpPr txBox="1"/>
          <p:nvPr/>
        </p:nvSpPr>
        <p:spPr>
          <a:xfrm>
            <a:off x="731520" y="4572000"/>
            <a:ext cx="10698480" cy="822960"/>
          </a:xfrm>
          <a:prstGeom prst="rect">
            <a:avLst/>
          </a:prstGeom>
          <a:noFill/>
          <a:ln/>
        </p:spPr>
        <p:txBody>
          <a:bodyPr wrap="square" lIns="0" tIns="0" rIns="0" bIns="0" rtlCol="0" anchor="t"/>
          <a:lstStyle/>
          <a:p>
            <a:pPr indent="0" marL="0">
              <a:buNone/>
            </a:pPr>
            <a:r>
              <a:rPr lang="en-US" sz="1900" i="1" dirty="0">
                <a:solidFill>
                  <a:schemeClr val="accent1"/>
                </a:solidFill>
              </a:rPr>
              <a:t>La vraie question : les entreprises et la société sont-elles prêtes à s'adapter à ceux qui piloteront l'économie de demain ?</a:t>
            </a:r>
            <a:endParaRPr lang="en-US" sz="1900" dirty="0"/>
          </a:p>
        </p:txBody>
      </p:sp>
      <p:sp>
        <p:nvSpPr>
          <p:cNvPr id="6" name="Text 4"/>
          <p:cNvSpPr txBox="1"/>
          <p:nvPr/>
        </p:nvSpPr>
        <p:spPr>
          <a:xfrm>
            <a:off x="731520" y="5760720"/>
            <a:ext cx="10698480" cy="457200"/>
          </a:xfrm>
          <a:prstGeom prst="rect">
            <a:avLst/>
          </a:prstGeom>
          <a:noFill/>
          <a:ln/>
        </p:spPr>
        <p:txBody>
          <a:bodyPr wrap="square" lIns="0" tIns="0" rIns="0" bIns="0" rtlCol="0" anchor="ctr"/>
          <a:lstStyle/>
          <a:p>
            <a:pPr indent="0" marL="0">
              <a:buNone/>
            </a:pPr>
            <a:r>
              <a:rPr lang="en-US" sz="1800" b="1" dirty="0">
                <a:solidFill>
                  <a:schemeClr val="bg1"/>
                </a:solidFill>
              </a:rPr>
              <a:t>Merci de votre attention</a:t>
            </a:r>
            <a:endParaRPr lang="en-US" sz="1800" dirty="0"/>
          </a:p>
        </p:txBody>
      </p:sp>
      <p:sp>
        <p:nvSpPr>
          <p:cNvPr id="8" name="Text 0"/>
          <p:cNvSpPr/>
          <p:nvPr>
            <p:ph idx="100" type="title" hasCustomPrompt="1"/>
          </p:nvPr>
        </p:nvSpPr>
        <p:spPr>
          <a:xfrm>
            <a:off x="731520" y="1828800"/>
            <a:ext cx="10698480" cy="1645920"/>
          </a:xfrm>
          <a:prstGeom prst="rect">
            <a:avLst/>
          </a:prstGeom>
          <a:noFill/>
          <a:ln/>
        </p:spPr>
        <p:txBody>
          <a:bodyPr wrap="square" rtlCol="0" anchor="ctr"/>
          <a:lstStyle/>
          <a:p>
            <a:pPr algn="l" indent="0" marL="0">
              <a:buNone/>
            </a:pPr>
            <a:endParaRPr lang="en-US" sz="4400" dirty="0"/>
          </a:p>
        </p:txBody>
      </p:sp>
      <p:sp>
        <p:nvSpPr>
          <p:cNvPr id="9" name="Text 0"/>
          <p:cNvSpPr/>
          <p:nvPr>
            <p:ph idx="101" type="body" hasCustomPrompt="1"/>
          </p:nvPr>
        </p:nvSpPr>
        <p:spPr>
          <a:xfrm>
            <a:off x="731520" y="3566160"/>
            <a:ext cx="10698480" cy="1280160"/>
          </a:xfrm>
          <a:prstGeom prst="rect">
            <a:avLst/>
          </a:prstGeom>
          <a:noFill/>
          <a:ln/>
        </p:spPr>
        <p:txBody>
          <a:bodyPr wrap="square" rtlCol="0" anchor="t"/>
          <a:lstStyle/>
          <a:p>
            <a:pPr indent="0" marL="0">
              <a:buNone/>
            </a:pPr>
            <a:endParaRPr lang="en-US" sz="2000" dirty="0"/>
          </a:p>
        </p:txBody>
      </p:sp>
    </p:spTree>
  </p:cSld>
  <p:clrMapOvr>
    <a:masterClrMapping/>
  </p:clrMapOvr>
</p:sld>
</file>

<file path=ppt/theme/theme1.xml><?xml version="1.0" encoding="utf-8"?>
<a:theme xmlns:a="http://schemas.openxmlformats.org/drawingml/2006/main" name="Generation Z">
  <a:themeElements>
    <a:clrScheme name="Generation Z">
      <a:dk1>
        <a:srgbClr val="1E1B2E"/>
      </a:dk1>
      <a:lt1>
        <a:srgbClr val="FFFFFF"/>
      </a:lt1>
      <a:dk2>
        <a:srgbClr val="23214A"/>
      </a:dk2>
      <a:lt2>
        <a:srgbClr val="F1F0F7"/>
      </a:lt2>
      <a:accent1>
        <a:srgbClr val="FF7A45"/>
      </a:accent1>
      <a:accent2>
        <a:srgbClr val="6C63FF"/>
      </a:accent2>
      <a:accent3>
        <a:srgbClr val="2EC4B6"/>
      </a:accent3>
      <a:accent4>
        <a:srgbClr val="E63946"/>
      </a:accent4>
      <a:accent5>
        <a:srgbClr val="FFB703"/>
      </a:accent5>
      <a:accent6>
        <a:srgbClr val="8D8BA7"/>
      </a:accent6>
      <a:hlink>
        <a:srgbClr val="6C63FF"/>
      </a:hlink>
      <a:folHlink>
        <a:srgbClr val="8D8BA7"/>
      </a:folHlink>
    </a:clrScheme>
    <a:fontScheme name="Generation Z">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 jeunes ne veulent-ils vraiment plus travailler ?</dc:title>
  <dc:subject>PptxGenJS Presentation</dc:subject>
  <dc:creator>PptxGenJS</dc:creator>
  <cp:lastModifiedBy>PptxGenJS</cp:lastModifiedBy>
  <cp:revision>1</cp:revision>
  <dcterms:created xsi:type="dcterms:W3CDTF">2026-10-10T09:58:08Z</dcterms:created>
  <dcterms:modified xsi:type="dcterms:W3CDTF">2026-10-10T09:58:08Z</dcterms:modified>
</cp:coreProperties>
</file>