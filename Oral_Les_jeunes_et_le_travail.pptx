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720fcfb-98d6-8dca-1145-9c04726c2ffa}">
          <p14:sldIdLst>
            <p14:sldId id="256"/>
            <p14:sldId id="257"/>
            <p14:sldId id="258"/>
            <p14:sldId id="259"/>
          </p14:sldIdLst>
        </p14:section>
        <p14:section name="Partie I" id="{985f1fd2-9bd6-6b47-df75-22382bddbd01}">
          <p14:sldIdLst>
            <p14:sldId id="260"/>
            <p14:sldId id="261"/>
            <p14:sldId id="262"/>
            <p14:sldId id="263"/>
          </p14:sldIdLst>
        </p14:section>
        <p14:section name="Partie II" id="{4b3f2e34-ede1-4a6f-951d-4f6a08070f32}">
          <p14:sldIdLst>
            <p14:sldId id="264"/>
            <p14:sldId id="265"/>
            <p14:sldId id="266"/>
            <p14:sldId id="267"/>
            <p14:sldId id="268"/>
          </p14:sldIdLst>
        </p14:section>
        <p14:section name="Partie III" id="{ed6ccb82-038d-978b-9af8-117e8c95b5a3}">
          <p14:sldIdLst>
            <p14:sldId id="269"/>
            <p14:sldId id="270"/>
            <p14:sldId id="271"/>
            <p14:sldId id="272"/>
          </p14:sldIdLst>
        </p14:section>
        <p14:section name="Conclusion" id="{de64f968-fbe0-4120-e266-3a0dab78d961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i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I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1430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Les jeunes ne veulent-ils vraiment plus travailler 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2"/>
                </a:solidFill>
              </a:rPr>
              <a:t>Vrai ou faux : analyse d'une idée reçue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Oral · 15 minutes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Une idée reçue largement répandue</a:t>
            </a:r>
            <a:endParaRPr lang="en-US" sz="3200" dirty="0"/>
          </a:p>
        </p:txBody>
      </p:sp>
      <p:sp>
        <p:nvSpPr>
          <p:cNvPr id="4" name="Encadré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« Les jeunes ne veulent plus travailler. »</a:t>
            </a:r>
            <a:endParaRPr lang="en-US" sz="2600" dirty="0"/>
          </a:p>
        </p:txBody>
      </p:sp>
      <p:sp>
        <p:nvSpPr>
          <p:cNvPr id="6" name="Contenu"/>
          <p:cNvSpPr txBox="1"/>
          <p:nvPr/>
        </p:nvSpPr>
        <p:spPr>
          <a:xfrm>
            <a:off x="548640" y="2743200"/>
            <a:ext cx="11064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Une phrase entendue lors d'un repas de famille, dans un reportage ou dans la bouche d'un employeur qui peine à recruter.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Elle semble de bon sens, presque évidente pour certains.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Pourtant, elle ressemble à une phrase prononcée à chaque époque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les générations précédentes disaient déjà des jeunes qu'ils étaient moins courageux, moins disciplinés, moins sérieux que leurs aînés.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Aujourd'hui, nous allons jouer au jeu du vrai ou faux avec cette affirmation.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Les enjeux du sujet et les sources mobilisées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1600200"/>
            <a:ext cx="110642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 sujet qui touche à des enjeux concrets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de nombreuses entreprises déclarent des difficultés de recrutement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le marché du travail se transforme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le débat public oppose régulièrement les générations.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Pour ne pas rester au niveau des impressions, trois ouvrages de référence consacrés à la Génération Z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Georges Lewi, « Génération Z : Mode d'emploi »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Elodie Gentina, « Manager la génération Z »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Daniel Ollivier et Catherine Tanguy, « Entreprise : les Z arrivent ! »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Savoir si cette idée est vraie ou fausse, c'est comprendre ce qui se joue réellement entre les jeunes, le travail et la société.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Problématique et annonce du 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5" name="Encadré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L'idée selon laquelle les jeunes ne veulent plus travailler résiste-t-elle à l'analyse des réalités économiques, des incertitudes sur l'avenir et de l'évolution de leurs aspirations 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PLAN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 Une génération accusée de manquer de motivation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Des réalités économiques et sociales qui contredisent cette idée reçue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Un changement de valeurs plutôt qu'un rejet du travail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PARTIE I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143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Une génération accusée de manquer de motivation</a:t>
            </a:r>
            <a:endParaRPr lang="en-US" sz="3800" dirty="0"/>
          </a:p>
        </p:txBody>
      </p:sp>
      <p:sp>
        <p:nvSpPr>
          <p:cNvPr id="4" name="Sous-parties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A. Les critiques des employeurs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B. Le refus supposé des contraintes traditionnelles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C. La recherche de flexibilité, interprétée comme un manque d'investissement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Une accusation qui ne vient pas de nulle part : elle s'appuie sur des situations réellement vécues par des employeurs et des managers.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I. Une génération accusée de manquer de motivation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A. Les critiques des employeurs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1600200"/>
            <a:ext cx="110642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Restauration, hôtellerie, bâtiment, commerce, logistique : des difficultés pour recruter, mais surtout pour fidéliser les salariés.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Des jeunes décrits comme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démissionnant après quelques semaines ou ne donnant plus aucune nouvelle après un entretien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ne se présentant pas le jour de leur prise de poste : le « ghosting » professionnel.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Pour ces dirigeants : un déficit d'engagement, de motivation et de fidélité envers l'entreprise.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Ollivier et Tanguy décrivent le « choc » vécu par les DRH et les managers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le jeune « zappeur » quitterait son poste au bout de quelques mois s'il s'ennuie ou trouve mieux ailleurs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là où la loyauté était une vertu cardinale, les employeurs perçoivent un consumérisme appliqué au marché de l'emploi.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 employeur qui forme un jeune avant de le voir partir ressent une frustration légitime : ainsi se construit l'image d'une génération moins impliquée.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Daniel Ollivier et Catherine Tanguy,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Entreprise : les Z arrivent 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I. Une génération accusée de manquer de motivation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B. Le refus supposé des contraintes traditionnelles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1600200"/>
            <a:ext cx="110642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Le reproche : les jeunes supporteraient mal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la hiérarchie verticale, les horaires fixes, les ordres donnés sans explication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la disponibilité permanente, les heures supplémentaires non rémunérées, la patience pour gravir les échelons.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Elodie Gentina : une génération qui a grandi dans une culture du réseau, où l'information circule de manière horizontale.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D'où une difficulté avec le « top-down » : les décisions imposées du haut vers le bas.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« Pourquoi dois-je faire cela ? » : le manager traditionnel y voit de l'insubordination.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Ce n'est pas une rébellion, mais une incompréhension mutuelle des codes.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Les jeunes veulent comprendre le sens, discuter, donner leur avis, être écoutés.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Perçu comme un manque de respect, voire de l'arrogance : « à peine arrivés, ils veulent déjà tout changer ».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Une différence de culture professionnelle interprétée comme un défaut de volonté.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Elodie Gentina,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Manager la génération 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I. Une génération accusée de manquer de motivation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C. La recherche de flexibilité, interprétée comme un manque d'investissement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2057400"/>
            <a:ext cx="11064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Georges Lewi évoque une « soif de liberté »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télétravail, horaires aménagés, porosité entre vie professionnelle et vie personnelle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volonté de changer de poste, de projet ou même de métier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attrait pour l'entrepreneuriat, le freelancing et les activités indépendantes.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Une aspiration lue à travers un prisme négatif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demander du télétravail, ce serait vouloir « en faire moins »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changer souvent d'employeur, ce serait être « instable »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refuser les heures supplémentaires, ce serait être « peu motivé ».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 mode d'organisation différent est interprété comme un manque d'investissement.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Le malentendu vient d'une grille de lecture managériale qui n'est plus adaptée.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Georges Lewi,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Génération Z : Mode d'emploi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PARTIE II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143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Des réalités économiques et sociales qui contredisent cette idée reçue</a:t>
            </a:r>
            <a:endParaRPr lang="en-US" sz="3800" dirty="0"/>
          </a:p>
        </p:txBody>
      </p:sp>
      <p:sp>
        <p:nvSpPr>
          <p:cNvPr id="4" name="Sous-parties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A. Des jeunes qui travaillent plus tôt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B. La précarisation de l'emploi et les difficultés économiques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C. Une incertitude croissante face à l'avenir professionnel et économique de la France</a:t>
            </a:r>
            <a:endParaRPr lang="en-US" sz="2000" dirty="0"/>
          </a:p>
        </p:txBody>
      </p:sp>
      <p:sp>
        <p:nvSpPr>
          <p:cNvPr id="5" name="Transition"/>
          <p:cNvSpPr/>
          <p:nvPr/>
        </p:nvSpPr>
        <p:spPr>
          <a:xfrm>
            <a:off x="822960" y="4343400"/>
            <a:ext cx="10515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343400"/>
            <a:ext cx="9966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Transition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L'accusation repose sur des ressentis réels, mais des ressentis ne constituent pas des preuves. Les faits confirment-ils cette impression ? Dès que l'on regarde les faits, l'idée reçue se fragilise.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II. Des réalités économiques et sociales qui contredisent cette idée reçue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A. Des jeunes qui travaillent plus tôt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1600200"/>
            <a:ext cx="110642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Georges Lewi : une génération pragmatique, confrontée très tôt à la réalité du travail. Ce contact précoce nourrit son exigence, pas sa paresse.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L'alternance s'est massivement développée en France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le seuil du million d'apprentis a été dépassé, un record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elle s'est étendue au supérieur : écoles de commerce, masters, écoles d'ingénieurs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des cours exigeants et un véritable poste, avec des objectifs, des horaires et des responsabilités.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Des stages de plus en plus nombreux et obligatoires, et des emplois étudiants : serveur, caissier, livreur, animateur, jobs d'été.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Beaucoup cumulent études et travail rémunéré, parfois par choix, souvent par nécessité financière.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Mon exemple : BUT GEA avec stages, recherche d'une alternance d'un an, double licence en comptabilité, contrôle et audit.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Les jeunes veulent travailler, et ils s'y mettent même de plus en plus tôt.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Georges Lewi,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Génération Z : Mode d'emploi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II. Des réalités économiques et sociales qui contredisent cette idée reçue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B. La précarisation de l'emploi et les difficultés économiques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2057400"/>
            <a:ext cx="11064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Ollivier et Tanguy : l'entreprise doit intégrer la fragilité économique des jeunes (CDD, « uberisation » du travail, pouvoir d'achat qui stagne, coût du logement qui a explosé).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 pouvoir d'achat sous tension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l'inflation a fait grimper l'alimentation, l'énergie et les transports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les revenus des étudiants et des jeunes actifs sont généralement modestes.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Le logement, un obstacle majeur : loyers élevés, garants et dossiers solides exigés, accès à la propriété très difficile.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Une entrée dans l'emploi par des contrats précaires : CDD à répétition, intérim, temps partiel subi, stages enchaînés.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Comment demander de la loyauté à quelqu'un à qui l'on ne propose que de l'instabilité ? La fidélité se construit des deux côtés.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Le manque d'engagement aveugle est une réponse rationnelle à une précarisation structurelle.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Daniel Ollivier et Catherine Tanguy,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Entreprise : les Z arrivent 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II. Des réalités économiques et sociales qui contredisent cette idée reçue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C. Une incertitude croissante face à l'avenir professionnel et économique de la France (1/2)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2057400"/>
            <a:ext cx="11064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Elodie Gentina : une génération qui grandit dans l'anxiété. Comment s'investir à 100 % pendant quarante ans quand l'avenir est incertain ?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1. Le chômage et les difficultés d'insertion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 taux de chômage des jeunes souvent plus du double de celui de l'ensemble de la population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même diplômés, beaucoup enchaînent plusieurs contrats courts avant un emploi stable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une attente anxiogène : beaucoup de candidatures, peu de réponses, des postes sans rapport avec la formation.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2. Les incertitudes économiques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une croissance modérée, une dette publique au-delà de 110 % du PIB, un pouvoir d'achat fragilisé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la promesse de l'ascenseur social semble en panne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on leur annonce la facture, sans leur promettre les moyens de la payer.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Elodie Gentina,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Manager la génération 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II. Des réalités économiques et sociales qui contredisent cette idée reçue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C. Une incertitude croissante face à l'avenir professionnel et économique de la France (2/2)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2057400"/>
            <a:ext cx="11064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3. Les transformations démographiques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la population vieillit : le nombre d'actifs par retraité diminue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 système de retraites fondé sur la solidarité entre générations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cotiser davantage ou plus longtemps, sans être sûr d'un système aussi protecteur : un sentiment d'injustice, voire de découragement.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4. L'intelligence artificielle et les mutations économiques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des métiers déjà transformés : bureau, gestion, comptabilité, relation client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quels emplois existeront encore dans dix ou vingt ans ? Quelles compétences seront utiles ?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Georges Lewi : une génération « désenchantée », mais surtout lucide.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On ne s'angoisse pas pour un emploi que l'on ne veut pas.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Ce qu'elle refuse : se sacrifier pour un système qui ne lui garantit plus de lendemains qui chantent.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Georges Lewi,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Génération Z : Mode d'emploi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PARTIE III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143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Un changement de valeurs plutôt qu'un rejet du travail</a:t>
            </a:r>
            <a:endParaRPr lang="en-US" sz="3800" dirty="0"/>
          </a:p>
        </p:txBody>
      </p:sp>
      <p:sp>
        <p:nvSpPr>
          <p:cNvPr id="4" name="Sous-parties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A. Le travail n'est plus le seul symbole de réussite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B. « Travailler pour vivre plutôt que vivre pour travailler 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C. Une nouvelle relation à l'entreprise</a:t>
            </a:r>
            <a:endParaRPr lang="en-US" sz="2000" dirty="0"/>
          </a:p>
        </p:txBody>
      </p:sp>
      <p:sp>
        <p:nvSpPr>
          <p:cNvPr id="5" name="Transition"/>
          <p:cNvSpPr/>
          <p:nvPr/>
        </p:nvSpPr>
        <p:spPr>
          <a:xfrm>
            <a:off x="822960" y="4343400"/>
            <a:ext cx="10515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343400"/>
            <a:ext cx="9966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Transition</a:t>
            </a:r>
            <a:endParaRPr lang="en-US" sz="15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Sur le plan des faits, l'idée reçue est fausse. Pourquoi l'impression de changement persiste-t-elle ? Parce que leur rapport au travail a évolué. Mais changer de façon de travailler, ce n'est pas arrêter de travailler.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III. Un changement de valeurs plutôt qu'un rejet du travail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A. Le travail n'est plus le seul symbole de réussite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1600200"/>
            <a:ext cx="110642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Ollivier et Tanguy : pour les générations précédentes, notamment les baby-boomers, le travail était le pilier de l'identité sociale.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On « était » ce que l'on faisait, on se définissait par son métier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une carrière dans la même entreprise, parfois pendant trente ou quarante ans, comme preuve de sa valeur.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Pour la Génération Z, le travail a été désacralisé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il reste important, mais n'est plus nécessairement l'unique source de réussite ou d'épanouissement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famille, amis, loisirs, sport, voyages, engagement associatif, projets personnels comptent autant, parfois davantage.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Le travail ne perd pas de sa valeur : il partage désormais la place avec d'autres dimensions de la vie.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Réussir sa vie, ce n'est plus seulement faire carrière.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Daniel Ollivier et Catherine Tanguy,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Entreprise : les Z arrivent 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III. Un changement de valeurs plutôt qu'un rejet du travail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B. « Travailler pour vivre plutôt que vivre pour travailler »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2057400"/>
            <a:ext cx="11064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Georges Lewi théorise cette bascule : la recherche d'un meilleur équilibre entre vie professionnelle et vie personnelle.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Entre un salaire très élevé avec un risque d'épuisement et un salaire correct avec du temps libre, notre génération choisit massivement la seconde option.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D'où vient cette attitude ?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des parents ou des proches épuisés, stressés, en burn-out, parfois licenciés après des années de dévouement total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une conclusion : ne pas tout sacrifier à l'entreprise, car rien ne garantit qu'elle fera de même en retour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une prise de conscience accentuée par la crise sanitaire.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Une aspiration partagée par de nombreux salariés plus âgés : les jeunes ne font que l'exprimer plus ouvertement.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Ce n'est donc pas du désengagement, mais de la lucidité.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Georges Lewi,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Génération Z : Mode d'emploi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III. Un changement de valeurs plutôt qu'un rejet du travail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C. Une nouvelle relation à l'entreprise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1600200"/>
            <a:ext cx="110642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Une relation plus exigeante, presque transactionnelle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une grande importance accordée à la rémunération, logique au vu du coût de la vie et du logement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une attention au sens de la mission, à l'ambiance, à l'évolution, à la formation, à la flexibilité et aux valeurs de l'entreprise : éthique et transparente.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Elodie Gentina : abandonner la posture de « petit chef » pour devenir un « manager-coach »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retours fréquents, considération, association aux décisions, démonstration de l'utilité concrète du travail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un accompagnement d'autant plus important que l'IA réduit les occasions d'apprendre sur le terrain.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Moins fidèles par principe, mais capables d'un engagement remarquable dans un environnement qui leur convient.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L'engagement ne s'exige plus comme un dû, il se mérite : c'est une demande de réciprocité.</a:t>
            </a:r>
            <a:endParaRPr lang="en-US" sz="1900" dirty="0"/>
          </a:p>
        </p:txBody>
      </p:sp>
      <p:pic>
        <p:nvPicPr>
          <p:cNvPr id="5" name="Icône référe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237744" cy="237744"/>
          </a:xfrm>
          <a:prstGeom prst="rect">
            <a:avLst/>
          </a:prstGeom>
        </p:spPr>
      </p:pic>
      <p:sp>
        <p:nvSpPr>
          <p:cNvPr id="6" name="Référence"/>
          <p:cNvSpPr txBox="1"/>
          <p:nvPr/>
        </p:nvSpPr>
        <p:spPr>
          <a:xfrm>
            <a:off x="896112" y="6217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Référence : Elodie Gentina, </a:t>
            </a:r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Manager la génération 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Vrai ou faux ? Dans l'ensemble, faux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1600200"/>
            <a:ext cx="11064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Les jeunes veulent travailler : ils le prouvent par l'alternance, les stages et les emplois étudiants.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Dans un contexte difficile : précarité, coût de la vie, prix du logement, incertitudes (chômage, dette, retraites, IA).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Ce qui est vrai : leurs attentes ont évolué. Les trois ouvrages convergent :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Ollivier et Tanguy : un travail désacralisé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Lewi : une génération qui travaille pour vivre ;</a:t>
            </a:r>
            <a:endParaRPr lang="en-US" sz="1900" dirty="0"/>
          </a:p>
          <a:p>
            <a:pPr lvl="1" marL="457200" indent="-228600">
              <a:spcAft>
                <a:spcPts val="300"/>
              </a:spcAft>
              <a:buSzPct val="100000"/>
              <a:buChar char="–"/>
            </a:pPr>
            <a:r>
              <a:rPr lang="en-US" sz="1700" dirty="0">
                <a:solidFill>
                  <a:schemeClr val="tx1"/>
                </a:solidFill>
              </a:rPr>
              <a:t>Gentina : un management à repenser.</a:t>
            </a:r>
            <a:endParaRPr lang="en-US" sz="1900" dirty="0"/>
          </a:p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Un travail qui a du sens, correctement rémunéré, qui laisse du temps pour vivre et qui offre des perspectives.</a:t>
            </a:r>
            <a:endParaRPr lang="en-US" sz="1900" dirty="0"/>
          </a:p>
        </p:txBody>
      </p:sp>
      <p:sp>
        <p:nvSpPr>
          <p:cNvPr id="5" name="Encadré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Non pas une jeunesse qui ne veut plus travailler, mais une jeunesse qui ne veut plus travailler à n'importe quel prix.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Ouverture</a:t>
            </a:r>
            <a:endParaRPr lang="en-US" sz="3200" dirty="0"/>
          </a:p>
        </p:txBody>
      </p:sp>
      <p:sp>
        <p:nvSpPr>
          <p:cNvPr id="4" name="Contenu"/>
          <p:cNvSpPr txBox="1"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Chaque génération a été jugée par la précédente, et chaque génération a fini par faire tourner l'économie à son tour.</a:t>
            </a:r>
            <a:endParaRPr lang="en-US" sz="2100" dirty="0"/>
          </a:p>
        </p:txBody>
      </p:sp>
      <p:sp>
        <p:nvSpPr>
          <p:cNvPr id="5" name="Encadré"/>
          <p:cNvSpPr/>
          <p:nvPr/>
        </p:nvSpPr>
        <p:spPr>
          <a:xfrm>
            <a:off x="548640" y="2743200"/>
            <a:ext cx="11064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La vraie question n'est peut-être pas de savoir si les jeunes veulent travailler, mais si les entreprises et la société sont prêtes à s'adapter à cette nouvelle génération, celle qui sera aux commandes de l'économie de demain.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vous remercie de votre attention.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l academique">
  <a:themeElements>
    <a:clrScheme name="Oral academique">
      <a:dk1>
        <a:srgbClr val="1C1F2A"/>
      </a:dk1>
      <a:lt1>
        <a:srgbClr val="FFFFFF"/>
      </a:lt1>
      <a:dk2>
        <a:srgbClr val="1F2A44"/>
      </a:dk2>
      <a:lt2>
        <a:srgbClr val="F2F3F7"/>
      </a:lt2>
      <a:accent1>
        <a:srgbClr val="8C1C2B"/>
      </a:accent1>
      <a:accent2>
        <a:srgbClr val="3C5A8C"/>
      </a:accent2>
      <a:accent3>
        <a:srgbClr val="C9A227"/>
      </a:accent3>
      <a:accent4>
        <a:srgbClr val="B3261E"/>
      </a:accent4>
      <a:accent5>
        <a:srgbClr val="5B6B82"/>
      </a:accent5>
      <a:accent6>
        <a:srgbClr val="7A8193"/>
      </a:accent6>
      <a:hlink>
        <a:srgbClr val="3C5A8C"/>
      </a:hlink>
      <a:folHlink>
        <a:srgbClr val="7A8193"/>
      </a:folHlink>
    </a:clrScheme>
    <a:fontScheme name="Oral academiq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jeunes ne veulent-ils vraiment plus travailler ?</dc:title>
  <dc:subject>PptxGenJS Presentation</dc:subject>
  <dc:creator>PptxGenJS</dc:creator>
  <cp:lastModifiedBy>PptxGenJS</cp:lastModifiedBy>
  <cp:revision>1</cp:revision>
  <dcterms:created xsi:type="dcterms:W3CDTF">2026-10-11T14:50:18Z</dcterms:created>
  <dcterms:modified xsi:type="dcterms:W3CDTF">2026-10-11T14:50:18Z</dcterms:modified>
</cp:coreProperties>
</file>